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EC7E69"/>
    <a:srgbClr val="EC7E32"/>
    <a:srgbClr val="E77E32"/>
    <a:srgbClr val="E77E69"/>
    <a:srgbClr val="FF33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9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0" y="5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tableStyles" Target="tableStyle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5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AF010C68-B77B-4431-A0A7-693CF58E734A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1048960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896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6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96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DB2EA21-F04E-4710-B9FC-7A1962EBE760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5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5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6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6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7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7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73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7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7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0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1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1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4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16</a:t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17</a:t>
            </a:fld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8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18</a:t>
            </a:fld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IN"/>
          </a:p>
        </p:txBody>
      </p:sp>
      <p:sp>
        <p:nvSpPr>
          <p:cNvPr id="10489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8DB2EA21-F04E-4710-B9FC-7A1962EBE760}" type="slidenum">
              <a:rPr lang="en-IN" smtClean="0"/>
              <a:t>19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9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60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F881051-4A15-4975-B283-5AE4382EA000}" type="datetime1">
              <a:rPr lang="en-IN" smtClean="0"/>
              <a:t>22-09-2026</a:t>
            </a:fld>
            <a:endParaRPr lang="en-IN"/>
          </a:p>
        </p:txBody>
      </p:sp>
      <p:sp>
        <p:nvSpPr>
          <p:cNvPr id="104860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60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r>
              <a:rPr dirty="0" lang="en-IN"/>
              <a:t>Slide </a:t>
            </a:r>
            <a:fld id="{0F06A4E2-163B-4ABA-8562-AD05AC3F17C5}" type="slidenum">
              <a:rPr lang="en-IN" smtClean="0"/>
              <a:t>‹#›</a:t>
            </a:fld>
            <a:r>
              <a:rPr dirty="0" lang="en-IN"/>
              <a:t> 75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8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8024DB-6B9A-4615-862D-DCC9162E1D46}" type="datetime1">
              <a:rPr lang="en-IN" smtClean="0"/>
              <a:t>22-09-2026</a:t>
            </a:fld>
            <a:endParaRPr lang="en-IN"/>
          </a:p>
        </p:txBody>
      </p:sp>
      <p:sp>
        <p:nvSpPr>
          <p:cNvPr id="10489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3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4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56FCEB4-FD16-4B07-9207-FB300F7B14E0}" type="datetime1">
              <a:rPr lang="en-IN" smtClean="0"/>
              <a:t>22-09-2026</a:t>
            </a:fld>
            <a:endParaRPr lang="en-IN"/>
          </a:p>
        </p:txBody>
      </p:sp>
      <p:sp>
        <p:nvSpPr>
          <p:cNvPr id="10489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39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0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E49330-105E-4C2D-A945-D7CB0B65AA0D}" type="datetime1">
              <a:rPr lang="en-IN" smtClean="0"/>
              <a:t>22-09-2026</a:t>
            </a:fld>
            <a:endParaRPr lang="en-IN"/>
          </a:p>
        </p:txBody>
      </p:sp>
      <p:sp>
        <p:nvSpPr>
          <p:cNvPr id="10489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4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45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6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8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4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7A2F794-44E1-4BEF-BC28-A1686AB91B35}" type="datetime1">
              <a:rPr lang="en-IN" smtClean="0"/>
              <a:t>22-09-2026</a:t>
            </a:fld>
            <a:endParaRPr lang="en-IN"/>
          </a:p>
        </p:txBody>
      </p:sp>
      <p:sp>
        <p:nvSpPr>
          <p:cNvPr id="104895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5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0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43309A1-C81B-427D-BCEA-27B741B28E1A}" type="datetime1">
              <a:rPr lang="en-IN" smtClean="0"/>
              <a:t>22-09-2026</a:t>
            </a:fld>
            <a:endParaRPr lang="en-IN"/>
          </a:p>
        </p:txBody>
      </p:sp>
      <p:sp>
        <p:nvSpPr>
          <p:cNvPr id="104891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D6757F5-B3DD-41B2-8AD1-E2C7F01E8325}" type="datetime1">
              <a:rPr lang="en-IN" smtClean="0"/>
              <a:t>22-09-2026</a:t>
            </a:fld>
            <a:endParaRPr lang="en-IN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5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5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2632F12-6279-426C-8A42-8E638B69DA5E}" type="datetime1">
              <a:rPr lang="en-IN" smtClean="0"/>
              <a:t>22-09-2026</a:t>
            </a:fld>
            <a:endParaRPr lang="en-IN"/>
          </a:p>
        </p:txBody>
      </p:sp>
      <p:sp>
        <p:nvSpPr>
          <p:cNvPr id="10489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2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92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ABB4110-22B7-47D9-9F58-54C5B302AF6D}" type="datetime1">
              <a:rPr lang="en-IN" smtClean="0"/>
              <a:t>22-09-2026</a:t>
            </a:fld>
            <a:endParaRPr lang="en-IN"/>
          </a:p>
        </p:txBody>
      </p:sp>
      <p:sp>
        <p:nvSpPr>
          <p:cNvPr id="10489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2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0575400-B1DF-4AF6-AB50-CBCE8962669C}" type="datetime1">
              <a:rPr lang="en-IN" smtClean="0"/>
              <a:t>22-09-2026</a:t>
            </a:fld>
            <a:endParaRPr lang="en-IN"/>
          </a:p>
        </p:txBody>
      </p:sp>
      <p:sp>
        <p:nvSpPr>
          <p:cNvPr id="10489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91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9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8A8D284-3CDB-49DE-A927-05878722C64F}" type="datetime1">
              <a:rPr lang="en-IN" smtClean="0"/>
              <a:t>22-09-2026</a:t>
            </a:fld>
            <a:endParaRPr lang="en-IN"/>
          </a:p>
        </p:txBody>
      </p:sp>
      <p:sp>
        <p:nvSpPr>
          <p:cNvPr id="10489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IN"/>
              <a:t>VVIT @ Dept. CSM</a:t>
            </a:r>
          </a:p>
        </p:txBody>
      </p:sp>
      <p:sp>
        <p:nvSpPr>
          <p:cNvPr id="10489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B7110-61B4-45BA-A110-4FCE83D5E720}" type="datetime1">
              <a:rPr lang="en-IN" smtClean="0"/>
              <a:t>22-09-2026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VVIT @ Dept. CSM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6A4E2-163B-4ABA-8562-AD05AC3F17C5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9B1A8B0-3C3E-4DAC-946D-F1A2452D5558}" type="datetime1">
              <a:rPr lang="en-IN" smtClean="0">
                <a:solidFill>
                  <a:srgbClr val="E77E69"/>
                </a:solidFill>
              </a:rPr>
              <a:t>9/22/2026</a:t>
            </a:fld>
            <a:endParaRPr dirty="0" lang="en-IN">
              <a:solidFill>
                <a:srgbClr val="E77E69"/>
              </a:solidFill>
            </a:endParaRPr>
          </a:p>
        </p:txBody>
      </p:sp>
      <p:sp>
        <p:nvSpPr>
          <p:cNvPr id="10485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F06A4E2-163B-4ABA-8562-AD05AC3F17C5}" type="slidenum">
              <a:rPr lang="en-IN" smtClean="0">
                <a:solidFill>
                  <a:srgbClr val="E77E69"/>
                </a:solidFill>
              </a:rPr>
              <a:t>1</a:t>
            </a:fld>
            <a:endParaRPr dirty="0" lang="en-IN">
              <a:solidFill>
                <a:srgbClr val="E77E69"/>
              </a:solidFill>
            </a:endParaRPr>
          </a:p>
        </p:txBody>
      </p:sp>
      <p:pic>
        <p:nvPicPr>
          <p:cNvPr id="2097152" name="Picture 4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4587119" y="258351"/>
            <a:ext cx="2174240" cy="1517438"/>
          </a:xfrm>
          <a:prstGeom prst="rect"/>
        </p:spPr>
      </p:pic>
      <p:sp>
        <p:nvSpPr>
          <p:cNvPr id="1048586" name="TextBox 5"/>
          <p:cNvSpPr txBox="1"/>
          <p:nvPr/>
        </p:nvSpPr>
        <p:spPr>
          <a:xfrm>
            <a:off x="1152040" y="1714110"/>
            <a:ext cx="9822608" cy="1348739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dirty="0" sz="2800" lang="en-IN"/>
              <a:t>AI-Based Multi-Modal Medical Image Analysis and Explainable Disease Diagnosis Using CNN, RAG, and Large Language Models</a:t>
            </a: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TextBox 6"/>
          <p:cNvSpPr txBox="1"/>
          <p:nvPr/>
        </p:nvSpPr>
        <p:spPr>
          <a:xfrm>
            <a:off x="4864925" y="2751597"/>
            <a:ext cx="2604908" cy="358140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Review - 1</a:t>
            </a:r>
          </a:p>
        </p:txBody>
      </p:sp>
      <p:sp>
        <p:nvSpPr>
          <p:cNvPr id="1048588" name="TextBox 7"/>
          <p:cNvSpPr txBox="1"/>
          <p:nvPr/>
        </p:nvSpPr>
        <p:spPr>
          <a:xfrm>
            <a:off x="4598377" y="3102396"/>
            <a:ext cx="2938780" cy="358140"/>
          </a:xfrm>
          <a:prstGeom prst="rect"/>
          <a:noFill/>
        </p:spPr>
        <p:txBody>
          <a:bodyPr rtlCol="0" wrap="none">
            <a:spAutoFit/>
          </a:bodyPr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Batch ID:AIM-B11 AIM-B11 </a:t>
            </a:r>
          </a:p>
        </p:txBody>
      </p:sp>
      <p:sp>
        <p:nvSpPr>
          <p:cNvPr id="1048589" name="TextBox 8"/>
          <p:cNvSpPr txBox="1"/>
          <p:nvPr/>
        </p:nvSpPr>
        <p:spPr>
          <a:xfrm>
            <a:off x="2145360" y="4841655"/>
            <a:ext cx="2516306" cy="624840"/>
          </a:xfrm>
          <a:prstGeom prst="rect"/>
          <a:noFill/>
        </p:spPr>
        <p:txBody>
          <a:bodyPr rtlCol="0" wrap="none">
            <a:spAutoFit/>
          </a:bodyPr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Dr. Shaik Khader </a:t>
            </a:r>
            <a:r>
              <a:rPr dirty="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Zelani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Professor, CSM, VVIT</a:t>
            </a:r>
          </a:p>
        </p:txBody>
      </p:sp>
      <p:sp>
        <p:nvSpPr>
          <p:cNvPr id="1048590" name="TextBox 9"/>
          <p:cNvSpPr txBox="1"/>
          <p:nvPr/>
        </p:nvSpPr>
        <p:spPr>
          <a:xfrm>
            <a:off x="7636329" y="4315108"/>
            <a:ext cx="2835096" cy="396240"/>
          </a:xfrm>
          <a:prstGeom prst="rect"/>
          <a:noFill/>
        </p:spPr>
        <p:txBody>
          <a:bodyPr rtlCol="0" wrap="none">
            <a:spAutoFit/>
          </a:bodyPr>
          <a:p>
            <a:pPr algn="ctr"/>
            <a:r>
              <a:rPr dirty="0" sz="2000" i="1" lang="en-IN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Batch Members</a:t>
            </a:r>
          </a:p>
        </p:txBody>
      </p:sp>
      <p:sp>
        <p:nvSpPr>
          <p:cNvPr id="1048591" name="TextBox 11"/>
          <p:cNvSpPr txBox="1"/>
          <p:nvPr/>
        </p:nvSpPr>
        <p:spPr>
          <a:xfrm>
            <a:off x="6192102" y="4936546"/>
            <a:ext cx="2825562" cy="8915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IN" err="1"/>
              <a:t>M.Narendra</a:t>
            </a:r>
            <a:r>
              <a:rPr dirty="0" lang="en-IN"/>
              <a:t> – 23BQ1A6181</a:t>
            </a:r>
          </a:p>
          <a:p>
            <a:r>
              <a:rPr dirty="0" lang="en-IN" err="1"/>
              <a:t>M.Eswar</a:t>
            </a:r>
            <a:r>
              <a:rPr dirty="0" lang="en-IN"/>
              <a:t>  – 24BQ5A6130</a:t>
            </a:r>
          </a:p>
        </p:txBody>
      </p:sp>
      <p:sp>
        <p:nvSpPr>
          <p:cNvPr id="1048592" name="TextBox 12"/>
          <p:cNvSpPr txBox="1"/>
          <p:nvPr/>
        </p:nvSpPr>
        <p:spPr>
          <a:xfrm>
            <a:off x="9208286" y="4936546"/>
            <a:ext cx="2983714" cy="891539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IN" err="1"/>
              <a:t>M.Rani</a:t>
            </a:r>
            <a:r>
              <a:rPr dirty="0" lang="en-IN"/>
              <a:t> – 23BQ1A6185</a:t>
            </a:r>
          </a:p>
          <a:p>
            <a:r>
              <a:rPr dirty="0" lang="en-IN" err="1"/>
              <a:t>K.Venkatesh</a:t>
            </a:r>
            <a:r>
              <a:rPr dirty="0" lang="en-IN"/>
              <a:t> – 24BQ5A6127 </a:t>
            </a:r>
          </a:p>
        </p:txBody>
      </p:sp>
      <p:sp>
        <p:nvSpPr>
          <p:cNvPr id="1048593" name="TextBox 13"/>
          <p:cNvSpPr txBox="1"/>
          <p:nvPr/>
        </p:nvSpPr>
        <p:spPr>
          <a:xfrm>
            <a:off x="2556497" y="4315108"/>
            <a:ext cx="1698744" cy="396240"/>
          </a:xfrm>
          <a:prstGeom prst="rect"/>
          <a:noFill/>
        </p:spPr>
        <p:txBody>
          <a:bodyPr rtlCol="0" wrap="none">
            <a:spAutoFit/>
          </a:bodyPr>
          <a:p>
            <a:pPr algn="ctr"/>
            <a:r>
              <a:rPr dirty="0" sz="2000" i="1" lang="en-IN">
                <a:solidFill>
                  <a:srgbClr val="E77E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</p:txBody>
      </p:sp>
      <p:sp>
        <p:nvSpPr>
          <p:cNvPr id="1048594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rgbClr val="E77E32"/>
                </a:solidFill>
              </a:rPr>
              <a:t>Dept. CSM @ VVIT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Rectangle 3"/>
          <p:cNvSpPr/>
          <p:nvPr/>
        </p:nvSpPr>
        <p:spPr>
          <a:xfrm>
            <a:off x="0" y="7729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05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0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0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2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08" name="TextBox 14"/>
          <p:cNvSpPr txBox="1"/>
          <p:nvPr/>
        </p:nvSpPr>
        <p:spPr>
          <a:xfrm flipH="1">
            <a:off x="198783" y="866173"/>
            <a:ext cx="11904726" cy="1107440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1600" lang="en-IN">
                <a:cs typeface="Times New Roman" panose="02020603050405020304" pitchFamily="18" charset="0"/>
              </a:rPr>
              <a:t>Medical image diagnosis using X-ray, CT, and MRI is time-consuming and requires expert interpretation, while many AI systems focus on a single imaging modality.</a:t>
            </a:r>
          </a:p>
        </p:txBody>
      </p:sp>
      <p:pic>
        <p:nvPicPr>
          <p:cNvPr id="2097153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09" name="TextBox 13"/>
          <p:cNvSpPr txBox="1"/>
          <p:nvPr/>
        </p:nvSpPr>
        <p:spPr>
          <a:xfrm>
            <a:off x="1531467" y="82617"/>
            <a:ext cx="7424010" cy="584775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0" name="TextBox 7"/>
          <p:cNvSpPr txBox="1"/>
          <p:nvPr/>
        </p:nvSpPr>
        <p:spPr>
          <a:xfrm>
            <a:off x="1860884" y="1387642"/>
            <a:ext cx="184731" cy="369332"/>
          </a:xfrm>
          <a:prstGeom prst="rect"/>
          <a:noFill/>
        </p:spPr>
        <p:txBody>
          <a:bodyPr rtlCol="0" wrap="none">
            <a:spAutoFit/>
          </a:bodyPr>
          <a:p>
            <a:endParaRPr dirty="0" lang="en-IN"/>
          </a:p>
        </p:txBody>
      </p:sp>
      <p:sp>
        <p:nvSpPr>
          <p:cNvPr id="1048611" name="TextBox 29"/>
          <p:cNvSpPr txBox="1"/>
          <p:nvPr/>
        </p:nvSpPr>
        <p:spPr>
          <a:xfrm>
            <a:off x="556909" y="2403305"/>
            <a:ext cx="1949116" cy="358140"/>
          </a:xfrm>
          <a:prstGeom prst="rect"/>
          <a:noFill/>
        </p:spPr>
        <p:txBody>
          <a:bodyPr rtlCol="0" wrap="square">
            <a:spAutoFit/>
          </a:bodyPr>
          <a:p>
            <a:endParaRPr dirty="0" lang="en-IN"/>
          </a:p>
        </p:txBody>
      </p:sp>
      <p:sp>
        <p:nvSpPr>
          <p:cNvPr id="1048612" name="TextBox 6"/>
          <p:cNvSpPr txBox="1"/>
          <p:nvPr/>
        </p:nvSpPr>
        <p:spPr>
          <a:xfrm>
            <a:off x="739503" y="5385755"/>
            <a:ext cx="2421524" cy="584775"/>
          </a:xfrm>
          <a:prstGeom prst="rect"/>
          <a:noFill/>
        </p:spPr>
        <p:txBody>
          <a:bodyPr anchor="ctr" wrap="square">
            <a:spAutoFit/>
          </a:bodyPr>
          <a:p>
            <a:endParaRPr b="1" dirty="0" lang="en-IN"/>
          </a:p>
          <a:p>
            <a:r>
              <a:rPr b="1" dirty="0" sz="1400" lang="en-IN"/>
              <a:t>      </a:t>
            </a:r>
            <a:endParaRPr b="0" dirty="0" sz="1180" lang="en-IN">
              <a:solidFill>
                <a:srgbClr val="141414"/>
              </a:solidFill>
              <a:latin typeface="Times New Roman"/>
            </a:endParaRPr>
          </a:p>
        </p:txBody>
      </p:sp>
      <p:sp>
        <p:nvSpPr>
          <p:cNvPr id="1048613" name="Rounded Rectangle 34"/>
          <p:cNvSpPr/>
          <p:nvPr/>
        </p:nvSpPr>
        <p:spPr>
          <a:xfrm>
            <a:off x="259992" y="2066502"/>
            <a:ext cx="4983480" cy="342900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500">
                <a:solidFill>
                  <a:srgbClr val="232323"/>
                </a:solidFill>
                <a:latin typeface="Aptos"/>
              </a:defRPr>
            </a:pPr>
            <a:r>
              <a:rPr b="1" dirty="0"/>
              <a:t>CURRENT CHALLENGES</a:t>
            </a:r>
            <a:br>
              <a:rPr dirty="0"/>
            </a:br>
            <a:br>
              <a:rPr dirty="0"/>
            </a:br>
            <a:r>
              <a:rPr dirty="0" sz="1600"/>
              <a:t>• Medical images come from different modalities such as X-ray, CT and MRI.</a:t>
            </a:r>
            <a:br>
              <a:rPr dirty="0" sz="1600"/>
            </a:br>
            <a:r>
              <a:rPr dirty="0" sz="1600"/>
              <a:t>• Manual interpretation is time-consuming and depends heavily on specialist expertise.</a:t>
            </a:r>
            <a:br>
              <a:rPr dirty="0" sz="1600"/>
            </a:br>
            <a:r>
              <a:rPr dirty="0" sz="1600"/>
              <a:t>• Single-modality AI systems cannot use complementary information from other scans.</a:t>
            </a:r>
            <a:br>
              <a:rPr dirty="0" sz="1600"/>
            </a:br>
            <a:r>
              <a:rPr dirty="0" sz="1600"/>
              <a:t>• Black-box predictions make clinical validation difficult.</a:t>
            </a:r>
            <a:br>
              <a:rPr dirty="0" sz="1600"/>
            </a:br>
            <a:r>
              <a:rPr dirty="0" sz="1600"/>
              <a:t>• Medical LLMs may generate unsupported explanations without trusted evidence.</a:t>
            </a:r>
          </a:p>
        </p:txBody>
      </p:sp>
      <p:sp>
        <p:nvSpPr>
          <p:cNvPr id="1048614" name="Rounded Rectangle 35"/>
          <p:cNvSpPr/>
          <p:nvPr/>
        </p:nvSpPr>
        <p:spPr>
          <a:xfrm>
            <a:off x="5903238" y="2075907"/>
            <a:ext cx="4983480" cy="342900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500">
                <a:solidFill>
                  <a:srgbClr val="232323"/>
                </a:solidFill>
                <a:latin typeface="Aptos"/>
              </a:defRPr>
            </a:pPr>
            <a:r>
              <a:rPr b="1" dirty="0"/>
              <a:t>RESEARCH NEED</a:t>
            </a:r>
            <a:br>
              <a:rPr dirty="0"/>
            </a:br>
            <a:br>
              <a:rPr dirty="0"/>
            </a:br>
            <a:r>
              <a:rPr dirty="0" sz="1600"/>
              <a:t>• Automatic disease detection across multiple imaging modalities.</a:t>
            </a:r>
            <a:br>
              <a:rPr dirty="0" sz="1600"/>
            </a:br>
            <a:r>
              <a:rPr dirty="0" sz="1600"/>
              <a:t>• CNN-based visual feature learning for disease classification.</a:t>
            </a:r>
            <a:br>
              <a:rPr dirty="0" sz="1600"/>
            </a:br>
            <a:r>
              <a:rPr dirty="0" sz="1600"/>
              <a:t>• Grad-CAM to show image regions influencing the prediction.</a:t>
            </a:r>
            <a:br>
              <a:rPr dirty="0" sz="1600"/>
            </a:br>
            <a:r>
              <a:rPr dirty="0" sz="1600"/>
              <a:t>• RAG to retrieve trusted medical literature.</a:t>
            </a:r>
            <a:br>
              <a:rPr dirty="0" sz="1600"/>
            </a:br>
            <a:r>
              <a:rPr dirty="0" sz="1600"/>
              <a:t>• LLM to convert prediction + evidence into an understandable clinical summary.</a:t>
            </a:r>
          </a:p>
        </p:txBody>
      </p:sp>
      <p:sp>
        <p:nvSpPr>
          <p:cNvPr id="1048615" name="Rounded Rectangle 36"/>
          <p:cNvSpPr/>
          <p:nvPr/>
        </p:nvSpPr>
        <p:spPr>
          <a:xfrm>
            <a:off x="1860884" y="5690364"/>
            <a:ext cx="7909560" cy="658368"/>
          </a:xfrm>
          <a:prstGeom prst="roundRect"/>
          <a:solidFill>
            <a:srgbClr val="FFF5F2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rPr dirty="0"/>
              <a:t>AI combines image analysis + explainability + evidence retrieval + LLM generation in one decision-support workflow.</a:t>
            </a:r>
          </a:p>
        </p:txBody>
      </p:sp>
      <p:sp>
        <p:nvSpPr>
          <p:cNvPr id="1048616" name="TextBox 32"/>
          <p:cNvSpPr txBox="1"/>
          <p:nvPr/>
        </p:nvSpPr>
        <p:spPr>
          <a:xfrm>
            <a:off x="8693627" y="14130"/>
            <a:ext cx="3586634" cy="802640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1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22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2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3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24" name="TextBox 14"/>
          <p:cNvSpPr txBox="1"/>
          <p:nvPr/>
        </p:nvSpPr>
        <p:spPr>
          <a:xfrm flipH="1">
            <a:off x="135928" y="877163"/>
            <a:ext cx="2063808" cy="7010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54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25" name="TextBox 13"/>
          <p:cNvSpPr txBox="1"/>
          <p:nvPr/>
        </p:nvSpPr>
        <p:spPr>
          <a:xfrm>
            <a:off x="1531467" y="82617"/>
            <a:ext cx="7123249" cy="861774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6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27" name="TextBox 16"/>
          <p:cNvSpPr txBox="1"/>
          <p:nvPr/>
        </p:nvSpPr>
        <p:spPr>
          <a:xfrm flipH="1">
            <a:off x="135928" y="1529461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1048628" name="Rectangle 5"/>
          <p:cNvSpPr/>
          <p:nvPr/>
        </p:nvSpPr>
        <p:spPr>
          <a:xfrm>
            <a:off x="2082800" y="941702"/>
            <a:ext cx="10020709" cy="523220"/>
          </a:xfrm>
          <a:prstGeom prst="rect"/>
        </p:spPr>
        <p:txBody>
          <a:bodyPr wrap="square">
            <a:spAutoFit/>
          </a:bodyPr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b="1" dirty="0" sz="1400" lang="en-US"/>
              <a:t>Ref 01 – </a:t>
            </a:r>
            <a:r>
              <a:rPr dirty="0" sz="1400" lang="en-US"/>
              <a:t>A Medical </a:t>
            </a:r>
            <a:r>
              <a:rPr dirty="0" sz="1400" lang="en-US" err="1"/>
              <a:t>Multimodel</a:t>
            </a:r>
            <a:r>
              <a:rPr dirty="0" sz="1400" lang="en-US"/>
              <a:t> Large Language Model for Future Pandemics </a:t>
            </a:r>
          </a:p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dirty="0" sz="1400" lang="en-US"/>
              <a:t>                  </a:t>
            </a:r>
            <a:r>
              <a:rPr dirty="0" sz="1400" lang="en-US" err="1"/>
              <a:t>Fenglin</a:t>
            </a:r>
            <a:r>
              <a:rPr dirty="0" sz="1400" lang="en-US"/>
              <a:t> Liu et al., 2023 </a:t>
            </a:r>
            <a:r>
              <a:rPr dirty="0" sz="1400" lang="en-US" err="1"/>
              <a:t>npj</a:t>
            </a:r>
            <a:r>
              <a:rPr dirty="0" sz="1400" lang="en-US"/>
              <a:t> Digital Medicine</a:t>
            </a:r>
          </a:p>
        </p:txBody>
      </p:sp>
      <p:sp>
        <p:nvSpPr>
          <p:cNvPr id="1048629" name="TextBox 9"/>
          <p:cNvSpPr txBox="1"/>
          <p:nvPr/>
        </p:nvSpPr>
        <p:spPr>
          <a:xfrm>
            <a:off x="744118" y="2378912"/>
            <a:ext cx="4572000" cy="2508504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Medical Multimodal Large Language Model (Med-MLLM).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Learns from visual, textual and image–text data.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Image encoder learns radiograph features from X-ray and CT.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Text encoder learns reports and clinical notes.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Image–text alignment combines visual and clinical knowledge.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Supports reporting, diagnosis and prognosis.</a:t>
            </a:r>
          </a:p>
        </p:txBody>
      </p:sp>
      <p:pic>
        <p:nvPicPr>
          <p:cNvPr id="2097155" name="Picture 17" descr="ref1_fig1_clean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095998" y="2118679"/>
            <a:ext cx="4617720" cy="4051396"/>
          </a:xfrm>
          <a:prstGeom prst="rect"/>
        </p:spPr>
      </p:pic>
      <p:sp>
        <p:nvSpPr>
          <p:cNvPr id="1048630" name="TextBox 21"/>
          <p:cNvSpPr txBox="1"/>
          <p:nvPr/>
        </p:nvSpPr>
        <p:spPr>
          <a:xfrm>
            <a:off x="8736175" y="26293"/>
            <a:ext cx="3319894" cy="1158239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5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36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3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4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38" name="TextBox 14"/>
          <p:cNvSpPr txBox="1"/>
          <p:nvPr/>
        </p:nvSpPr>
        <p:spPr>
          <a:xfrm flipH="1">
            <a:off x="135928" y="877163"/>
            <a:ext cx="2063808" cy="7010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5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39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0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41" name="TextBox 16"/>
          <p:cNvSpPr txBox="1"/>
          <p:nvPr/>
        </p:nvSpPr>
        <p:spPr>
          <a:xfrm flipH="1">
            <a:off x="104186" y="1352684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1048642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b="1" dirty="0" sz="1400" lang="en-US"/>
              <a:t>Ref 01 – </a:t>
            </a:r>
            <a:r>
              <a:rPr dirty="0" sz="1400" lang="en-US"/>
              <a:t>A Medical </a:t>
            </a:r>
            <a:r>
              <a:rPr dirty="0" sz="1400" lang="en-US" err="1"/>
              <a:t>Multimodel</a:t>
            </a:r>
            <a:r>
              <a:rPr dirty="0" sz="1400" lang="en-US"/>
              <a:t> Large Language Model for Future Pandemics </a:t>
            </a:r>
          </a:p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dirty="0" sz="1400" lang="en-US"/>
              <a:t>                  </a:t>
            </a:r>
            <a:r>
              <a:rPr dirty="0" sz="1400" lang="en-US" err="1"/>
              <a:t>Fenglin</a:t>
            </a:r>
            <a:r>
              <a:rPr dirty="0" sz="1400" lang="en-US"/>
              <a:t> Liu et al., 2023 </a:t>
            </a:r>
            <a:r>
              <a:rPr dirty="0" sz="1400" lang="en-US" err="1"/>
              <a:t>npj</a:t>
            </a:r>
            <a:r>
              <a:rPr dirty="0" sz="1400" lang="en-US"/>
              <a:t> Digital Medicine</a:t>
            </a:r>
          </a:p>
        </p:txBody>
      </p:sp>
      <p:sp>
        <p:nvSpPr>
          <p:cNvPr id="1048643" name="Rounded Rectangle 34"/>
          <p:cNvSpPr/>
          <p:nvPr/>
        </p:nvSpPr>
        <p:spPr>
          <a:xfrm>
            <a:off x="397152" y="1971736"/>
            <a:ext cx="4846320" cy="384048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500">
                <a:solidFill>
                  <a:srgbClr val="232323"/>
                </a:solidFill>
                <a:latin typeface="Aptos"/>
              </a:defRPr>
            </a:pPr>
            <a:r>
              <a:rPr b="1" dirty="0"/>
              <a:t>DATA USED</a:t>
            </a:r>
            <a:br>
              <a:rPr dirty="0"/>
            </a:br>
            <a:br>
              <a:rPr dirty="0" sz="1600"/>
            </a:br>
            <a:r>
              <a:rPr dirty="0" sz="1600"/>
              <a:t>• Chest X-ray and CT images.</a:t>
            </a:r>
            <a:br>
              <a:rPr dirty="0" sz="1600"/>
            </a:br>
            <a:r>
              <a:rPr dirty="0" sz="1600"/>
              <a:t>• Medical reports and clinical notes.</a:t>
            </a:r>
            <a:br>
              <a:rPr dirty="0" sz="1600"/>
            </a:br>
            <a:r>
              <a:rPr dirty="0" sz="1600"/>
              <a:t>• Public datasets including COVIDx-CXR-2, COVID-CXR and COVID-19 CT.</a:t>
            </a:r>
            <a:br>
              <a:rPr dirty="0" sz="1600"/>
            </a:br>
            <a:r>
              <a:rPr dirty="0" sz="1600"/>
              <a:t>• MIMIC-CXR / MIMIC-III for medical text.</a:t>
            </a:r>
            <a:br>
              <a:rPr dirty="0" sz="1600"/>
            </a:br>
            <a:r>
              <a:rPr dirty="0" sz="1600"/>
              <a:t>• UMLS used as a medical knowledge base.</a:t>
            </a:r>
            <a:br>
              <a:rPr dirty="0" sz="1600"/>
            </a:br>
            <a:br>
              <a:rPr dirty="0" sz="1600"/>
            </a:br>
            <a:r>
              <a:rPr dirty="0" sz="1600"/>
              <a:t>The framework is designed for limited labelled data.</a:t>
            </a:r>
          </a:p>
        </p:txBody>
      </p:sp>
      <p:sp>
        <p:nvSpPr>
          <p:cNvPr id="1048644" name="Rounded Rectangle 35"/>
          <p:cNvSpPr/>
          <p:nvPr/>
        </p:nvSpPr>
        <p:spPr>
          <a:xfrm>
            <a:off x="5804452" y="1954375"/>
            <a:ext cx="1920240" cy="5943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300">
                <a:solidFill>
                  <a:srgbClr val="232323"/>
                </a:solidFill>
                <a:latin typeface="Aptos"/>
              </a:defRPr>
            </a:pPr>
            <a:r>
              <a:rPr dirty="0"/>
              <a:t>X-ray / CT</a:t>
            </a:r>
          </a:p>
        </p:txBody>
      </p:sp>
      <p:sp>
        <p:nvSpPr>
          <p:cNvPr id="1048645" name="Rounded Rectangle 37"/>
          <p:cNvSpPr/>
          <p:nvPr/>
        </p:nvSpPr>
        <p:spPr>
          <a:xfrm>
            <a:off x="5804452" y="2694129"/>
            <a:ext cx="1920240" cy="59436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0" sz="1300">
                <a:solidFill>
                  <a:srgbClr val="232323"/>
                </a:solidFill>
                <a:latin typeface="Aptos"/>
              </a:defRPr>
            </a:pPr>
            <a:r>
              <a:rPr dirty="0"/>
              <a:t>Image Encoder</a:t>
            </a:r>
          </a:p>
        </p:txBody>
      </p:sp>
      <p:sp>
        <p:nvSpPr>
          <p:cNvPr id="1048646" name="Rounded Rectangle 39"/>
          <p:cNvSpPr/>
          <p:nvPr/>
        </p:nvSpPr>
        <p:spPr>
          <a:xfrm>
            <a:off x="5804452" y="3497049"/>
            <a:ext cx="1920240" cy="59436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0" sz="1300">
                <a:solidFill>
                  <a:srgbClr val="232323"/>
                </a:solidFill>
                <a:latin typeface="Aptos"/>
              </a:defRPr>
            </a:pPr>
            <a:r>
              <a:rPr dirty="0"/>
              <a:t>Text Encoder</a:t>
            </a:r>
          </a:p>
        </p:txBody>
      </p:sp>
      <p:sp>
        <p:nvSpPr>
          <p:cNvPr id="1048647" name="Rounded Rectangle 41"/>
          <p:cNvSpPr/>
          <p:nvPr/>
        </p:nvSpPr>
        <p:spPr>
          <a:xfrm>
            <a:off x="5804452" y="4309266"/>
            <a:ext cx="1920240" cy="59436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0" sz="1300">
                <a:solidFill>
                  <a:srgbClr val="232323"/>
                </a:solidFill>
                <a:latin typeface="Aptos"/>
              </a:defRPr>
            </a:pPr>
            <a:r>
              <a:t>Image–Text Alignment</a:t>
            </a:r>
          </a:p>
        </p:txBody>
      </p:sp>
      <p:sp>
        <p:nvSpPr>
          <p:cNvPr id="1048648" name="Rounded Rectangle 43"/>
          <p:cNvSpPr/>
          <p:nvPr/>
        </p:nvSpPr>
        <p:spPr>
          <a:xfrm>
            <a:off x="5804452" y="5117403"/>
            <a:ext cx="1920240" cy="5943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300">
                <a:solidFill>
                  <a:srgbClr val="232323"/>
                </a:solidFill>
                <a:latin typeface="Aptos"/>
              </a:defRPr>
            </a:pPr>
            <a:r>
              <a:rPr dirty="0"/>
              <a:t>Diagnosis / Report / Prognosis</a:t>
            </a:r>
          </a:p>
        </p:txBody>
      </p:sp>
      <p:sp>
        <p:nvSpPr>
          <p:cNvPr id="1048649" name="TextBox 27"/>
          <p:cNvSpPr txBox="1"/>
          <p:nvPr/>
        </p:nvSpPr>
        <p:spPr>
          <a:xfrm>
            <a:off x="8396578" y="1939156"/>
            <a:ext cx="2377440" cy="3194304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r>
              <a:rPr b="1" dirty="0" sz="1600"/>
              <a:t>KEY IDEA</a:t>
            </a:r>
          </a:p>
          <a:p>
            <a:pPr algn="l">
              <a:spcAft>
                <a:spcPts val="300"/>
              </a:spcAft>
              <a:defRPr b="0" sz="1400">
                <a:solidFill>
                  <a:srgbClr val="232323"/>
                </a:solidFill>
                <a:latin typeface="Aptos"/>
              </a:defRPr>
            </a:pPr>
            <a:endParaRPr dirty="0" sz="1600"/>
          </a:p>
          <a:p>
            <a:pPr algn="l" indent="-285750" marL="285750">
              <a:spcAft>
                <a:spcPts val="300"/>
              </a:spcAft>
              <a:buFont typeface="Arial" panose="020B0604020202020204" pitchFamily="34" charset="0"/>
              <a:buChar char="•"/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Learn broad medical representations first, then fine-tune for specific clinical tasks.</a:t>
            </a:r>
          </a:p>
          <a:p>
            <a:pPr algn="l" indent="-285750" marL="285750">
              <a:spcAft>
                <a:spcPts val="300"/>
              </a:spcAft>
              <a:buFont typeface="Arial" panose="020B0604020202020204" pitchFamily="34" charset="0"/>
              <a:buChar char="•"/>
              <a:defRPr b="0" sz="1400">
                <a:solidFill>
                  <a:srgbClr val="232323"/>
                </a:solidFill>
                <a:latin typeface="Aptos"/>
              </a:defRPr>
            </a:pPr>
            <a:endParaRPr dirty="0" sz="1600"/>
          </a:p>
          <a:p>
            <a:pPr algn="l" indent="-285750" marL="285750">
              <a:spcAft>
                <a:spcPts val="300"/>
              </a:spcAft>
              <a:buFont typeface="Arial" panose="020B0604020202020204" pitchFamily="34" charset="0"/>
              <a:buChar char="•"/>
              <a:defRPr b="0" sz="14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This supports our use of multimodal learning before disease-specific decision support.</a:t>
            </a:r>
          </a:p>
        </p:txBody>
      </p:sp>
      <p:sp>
        <p:nvSpPr>
          <p:cNvPr id="1048650" name="TextBox 29"/>
          <p:cNvSpPr txBox="1"/>
          <p:nvPr/>
        </p:nvSpPr>
        <p:spPr>
          <a:xfrm>
            <a:off x="8777765" y="31393"/>
            <a:ext cx="3414234" cy="1158240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5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56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5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5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58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57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59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0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61" name="TextBox 16"/>
          <p:cNvSpPr txBox="1"/>
          <p:nvPr/>
        </p:nvSpPr>
        <p:spPr>
          <a:xfrm flipH="1">
            <a:off x="135928" y="1458533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1048662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b="1" dirty="0" sz="1400" lang="en-US"/>
              <a:t>Ref 01 – </a:t>
            </a:r>
            <a:r>
              <a:rPr dirty="0" sz="1400" lang="en-US"/>
              <a:t>A Medical </a:t>
            </a:r>
            <a:r>
              <a:rPr dirty="0" sz="1400" lang="en-US" err="1"/>
              <a:t>Multimodel</a:t>
            </a:r>
            <a:r>
              <a:rPr dirty="0" sz="1400" lang="en-US"/>
              <a:t> Large Language Model for Future Pandemics </a:t>
            </a:r>
          </a:p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dirty="0" sz="1400" lang="en-US"/>
              <a:t>                  </a:t>
            </a:r>
            <a:r>
              <a:rPr dirty="0" sz="1400" lang="en-US" err="1"/>
              <a:t>Fenglin</a:t>
            </a:r>
            <a:r>
              <a:rPr dirty="0" sz="1400" lang="en-US"/>
              <a:t> Liu et al., 2023 </a:t>
            </a:r>
            <a:r>
              <a:rPr dirty="0" sz="1400" lang="en-US" err="1"/>
              <a:t>npj</a:t>
            </a:r>
            <a:r>
              <a:rPr dirty="0" sz="1400" lang="en-US"/>
              <a:t> Digital Medicine</a:t>
            </a:r>
          </a:p>
        </p:txBody>
      </p:sp>
      <p:sp>
        <p:nvSpPr>
          <p:cNvPr id="1048663" name="TextBox 17"/>
          <p:cNvSpPr txBox="1"/>
          <p:nvPr/>
        </p:nvSpPr>
        <p:spPr>
          <a:xfrm>
            <a:off x="739472" y="1839233"/>
            <a:ext cx="9923227" cy="2616101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lang="en-IN"/>
              <a:t>Key Results</a:t>
            </a:r>
          </a:p>
          <a:p>
            <a:pPr>
              <a:buNone/>
            </a:pPr>
            <a:endParaRPr dirty="0" lang="en-IN"/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Achieved accurate COVID-19 reporting, diagnosis, and prognosis using limited labelled data.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With only 1% labelled data, the model achieved competitive performance compared with existing methods.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With 10% labelled data, it could outperform some previous methods trained using 100% labelled data.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For diagnosis, it improved performance by up to 10.6% on image-only, 3.6% on text-only, and 5.9% on image-text tasks.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Supported multiple modalities (X-ray, CT, text) and three languages: English, Chinese, and Spanish.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Achieved 83.4% F1-score for detecting hallucinations/missing facts in generated reports, compared with 78.8% for </a:t>
            </a:r>
            <a:r>
              <a:rPr dirty="0" sz="1600" lang="en-IN" err="1"/>
              <a:t>XProNet</a:t>
            </a:r>
            <a:r>
              <a:rPr dirty="0" sz="1600" lang="en-IN"/>
              <a:t>.</a:t>
            </a:r>
          </a:p>
        </p:txBody>
      </p:sp>
      <p:sp>
        <p:nvSpPr>
          <p:cNvPr id="1048664" name="TextBox 19"/>
          <p:cNvSpPr txBox="1"/>
          <p:nvPr/>
        </p:nvSpPr>
        <p:spPr>
          <a:xfrm>
            <a:off x="8738482" y="23192"/>
            <a:ext cx="3273409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8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9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70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71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6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72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58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73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4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75" name="TextBox 16"/>
          <p:cNvSpPr txBox="1"/>
          <p:nvPr/>
        </p:nvSpPr>
        <p:spPr>
          <a:xfrm flipH="1">
            <a:off x="104186" y="1460458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1048676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b="1" dirty="0" sz="1400" lang="en-US"/>
              <a:t>Ref 01 – </a:t>
            </a:r>
            <a:r>
              <a:rPr dirty="0" sz="1400" lang="en-US"/>
              <a:t>A Medical </a:t>
            </a:r>
            <a:r>
              <a:rPr dirty="0" sz="1400" lang="en-US" err="1"/>
              <a:t>Multimodel</a:t>
            </a:r>
            <a:r>
              <a:rPr dirty="0" sz="1400" lang="en-US"/>
              <a:t> Large Language Model for Future Pandemics </a:t>
            </a:r>
          </a:p>
          <a:p>
            <a:pPr>
              <a:defRPr b="0" sz="2000">
                <a:solidFill>
                  <a:srgbClr val="232323"/>
                </a:solidFill>
                <a:latin typeface="Aptos"/>
              </a:defRPr>
            </a:pPr>
            <a:r>
              <a:rPr dirty="0" sz="1400" lang="en-US"/>
              <a:t>                  </a:t>
            </a:r>
            <a:r>
              <a:rPr dirty="0" sz="1400" lang="en-US" err="1"/>
              <a:t>Fenglin</a:t>
            </a:r>
            <a:r>
              <a:rPr dirty="0" sz="1400" lang="en-US"/>
              <a:t> Liu et al., 2023 </a:t>
            </a:r>
            <a:r>
              <a:rPr dirty="0" sz="1400" lang="en-US" err="1"/>
              <a:t>npj</a:t>
            </a:r>
            <a:r>
              <a:rPr dirty="0" sz="1400" lang="en-US"/>
              <a:t> Digital Medicine</a:t>
            </a:r>
          </a:p>
        </p:txBody>
      </p:sp>
      <p:sp>
        <p:nvSpPr>
          <p:cNvPr id="1048677" name="Rounded Rectangle 6"/>
          <p:cNvSpPr/>
          <p:nvPr/>
        </p:nvSpPr>
        <p:spPr>
          <a:xfrm>
            <a:off x="290987" y="2211019"/>
            <a:ext cx="5699760" cy="3457764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Multimodal learning: combines medical images and clinical text.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Low-label learning: effective even when labelled medical data are scarce.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Multiple clinical tasks: supports reporting, diagnosis, and prognosis.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Generalization: evaluated across different datasets, regions, modalities, and languages.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Scalable framework: also tested on 14 thorax diseases and tuberculosis using limited labelled data.</a:t>
            </a:r>
          </a:p>
        </p:txBody>
      </p:sp>
      <p:sp>
        <p:nvSpPr>
          <p:cNvPr id="1048678" name="Rounded Rectangle 17"/>
          <p:cNvSpPr/>
          <p:nvPr/>
        </p:nvSpPr>
        <p:spPr>
          <a:xfrm>
            <a:off x="6146800" y="2194560"/>
            <a:ext cx="5699760" cy="3493726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Primarily evaluated using COVID-19 and thoracic/respiratory datasets, so broader disease coverage needs further validation.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system depends on large-scale medical image and text pre-training data, which can be difficult to collect and manage.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Generated medical reports can still contain hallucinations or missing findings, even though the paper evaluates and reduces these errors.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study demonstrates decision-support capability but does not establish replacement of clinical experts or full real-world clinical deployment.</a:t>
            </a:r>
          </a:p>
        </p:txBody>
      </p:sp>
      <p:sp>
        <p:nvSpPr>
          <p:cNvPr id="1048679" name="Rectangle 7"/>
          <p:cNvSpPr/>
          <p:nvPr/>
        </p:nvSpPr>
        <p:spPr>
          <a:xfrm>
            <a:off x="6259202" y="2148841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80" name="Rectangle 18"/>
          <p:cNvSpPr/>
          <p:nvPr/>
        </p:nvSpPr>
        <p:spPr>
          <a:xfrm>
            <a:off x="393386" y="2148841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81" name="TextBox 8"/>
          <p:cNvSpPr txBox="1"/>
          <p:nvPr/>
        </p:nvSpPr>
        <p:spPr>
          <a:xfrm>
            <a:off x="393386" y="1799012"/>
            <a:ext cx="1075872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1048682" name="TextBox 19"/>
          <p:cNvSpPr txBox="1"/>
          <p:nvPr/>
        </p:nvSpPr>
        <p:spPr>
          <a:xfrm>
            <a:off x="6259202" y="1779509"/>
            <a:ext cx="1249060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48683" name="TextBox 27"/>
          <p:cNvSpPr txBox="1"/>
          <p:nvPr/>
        </p:nvSpPr>
        <p:spPr>
          <a:xfrm>
            <a:off x="8674872" y="23192"/>
            <a:ext cx="3337019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8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689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690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7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691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5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692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3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694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1048695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01 – Deep Learning-Based  .......................................</a:t>
            </a:r>
            <a:br>
              <a:rPr dirty="0" sz="1400" lang="en-US"/>
            </a:br>
            <a:r>
              <a:rPr dirty="0" sz="1400" i="1" lang="en-US"/>
              <a:t>Author et al., 2024 | IEEE Transactions on Medical Imaging</a:t>
            </a:r>
            <a:endParaRPr dirty="0" sz="1400" lang="en-IN"/>
          </a:p>
        </p:txBody>
      </p:sp>
      <p:sp>
        <p:nvSpPr>
          <p:cNvPr id="1048696" name="TextBox 7"/>
          <p:cNvSpPr txBox="1"/>
          <p:nvPr/>
        </p:nvSpPr>
        <p:spPr>
          <a:xfrm>
            <a:off x="751484" y="2363068"/>
            <a:ext cx="8734423" cy="2862322"/>
          </a:xfrm>
          <a:prstGeom prst="rect"/>
          <a:noFill/>
        </p:spPr>
        <p:txBody>
          <a:bodyPr wrap="square">
            <a:spAutoFit/>
          </a:bodyPr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Provides a foundation for combining medical imaging + textual medical knowledge.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Supports our idea of using multimodal medical images (X-ray, CT, MRI) for disease detection.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Demonstrates how an LLM can generate clinically understandable outputs from medical information.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Motivates our use of RAG to connect model predictions with trusted medical literature.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Complements our use of CNN + Explainable AI (Grad-CAM) by showing how image understanding can be integrated with higher-level clinical reasoning.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lang="en-IN"/>
              <a:t>Our research extends this direction toward multi-disease detection, explainability, evidence retrieval, and clinical decision support.</a:t>
            </a:r>
          </a:p>
        </p:txBody>
      </p:sp>
      <p:sp>
        <p:nvSpPr>
          <p:cNvPr id="1048697" name="TextBox 18"/>
          <p:cNvSpPr txBox="1"/>
          <p:nvPr/>
        </p:nvSpPr>
        <p:spPr>
          <a:xfrm>
            <a:off x="8706678" y="23192"/>
            <a:ext cx="3305214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2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03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704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8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70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0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706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7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708" name="TextBox 16"/>
          <p:cNvSpPr txBox="1"/>
          <p:nvPr/>
        </p:nvSpPr>
        <p:spPr>
          <a:xfrm flipH="1">
            <a:off x="135928" y="1358305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1048709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02 – </a:t>
            </a:r>
            <a:r>
              <a:rPr dirty="0" sz="1400" lang="en-IN"/>
              <a:t>Explainable Multimodal Deep Learning for </a:t>
            </a:r>
            <a:r>
              <a:rPr dirty="0" sz="1400" lang="en-IN" err="1"/>
              <a:t>Tumor</a:t>
            </a:r>
            <a:r>
              <a:rPr dirty="0" sz="1400" lang="en-IN"/>
              <a:t> Detection and Classification in MRI and CT Images</a:t>
            </a:r>
            <a:br>
              <a:rPr dirty="0" sz="1400" lang="en-IN"/>
            </a:br>
            <a:r>
              <a:rPr dirty="0" sz="1400" lang="en-IN"/>
              <a:t>                B. V. S. N. S. Vinay et al., </a:t>
            </a:r>
            <a:r>
              <a:rPr dirty="0" sz="1400" i="1" lang="en-IN"/>
              <a:t>2026</a:t>
            </a:r>
            <a:r>
              <a:rPr dirty="0" sz="1400" lang="en-IN"/>
              <a:t> Procedia Computer Science</a:t>
            </a:r>
          </a:p>
        </p:txBody>
      </p:sp>
      <p:sp>
        <p:nvSpPr>
          <p:cNvPr id="1048710" name="TextBox 7"/>
          <p:cNvSpPr txBox="1"/>
          <p:nvPr/>
        </p:nvSpPr>
        <p:spPr>
          <a:xfrm>
            <a:off x="504288" y="1654906"/>
            <a:ext cx="8035413" cy="4770537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1600" lang="en-IN"/>
              <a:t>Proposed Multimodal Framework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paper proposes an explainable multimodal deep learning framework for </a:t>
            </a:r>
            <a:r>
              <a:rPr dirty="0" sz="1600" lang="en-IN" err="1"/>
              <a:t>tumor</a:t>
            </a:r>
            <a:r>
              <a:rPr dirty="0" sz="1600" lang="en-IN"/>
              <a:t> detection and classification using MRI and CT images.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It combines Convolutional Neural Networks (CNNs) and Vision Transformers (</a:t>
            </a:r>
            <a:r>
              <a:rPr dirty="0" sz="1600" lang="en-IN" err="1"/>
              <a:t>ViTs</a:t>
            </a:r>
            <a:r>
              <a:rPr dirty="0" sz="1600" lang="en-IN"/>
              <a:t>) to capture complementary information from medical images.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CNNs are used to extract important local and spatial features such as </a:t>
            </a:r>
            <a:r>
              <a:rPr dirty="0" sz="1600" lang="en-IN" err="1"/>
              <a:t>tumor</a:t>
            </a:r>
            <a:r>
              <a:rPr dirty="0" sz="1600" lang="en-IN"/>
              <a:t> boundaries, textures, and structures.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Vision Transformers capture broader global contextual relationships within the images.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Separate feature representations are generated for MRI and CT modalities.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extracted features are then combined through a multimodal feature-fusion mechanism to improve classification.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fused representation is passed to the classification stage to identify the </a:t>
            </a:r>
            <a:r>
              <a:rPr dirty="0" sz="1600" lang="en-IN" err="1"/>
              <a:t>tumor</a:t>
            </a:r>
            <a:r>
              <a:rPr dirty="0" sz="1600" lang="en-IN"/>
              <a:t> category.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For interpretability, the framework integrates Grad-CAM and SHAP.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Grad-CAM produces heatmaps showing the image regions that contributed to the model's prediction.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SHAP provides additional feature-level explanations of the model's decisions.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Thus, the overall approach combines multimodal learning + deep feature extraction + feature fusion + Explainable AI.</a:t>
            </a:r>
          </a:p>
        </p:txBody>
      </p:sp>
      <p:pic>
        <p:nvPicPr>
          <p:cNvPr id="2097161" name="Picture 9" descr="image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8602923" y="2024085"/>
            <a:ext cx="3383280" cy="3886200"/>
          </a:xfrm>
          <a:prstGeom prst="rect"/>
        </p:spPr>
      </p:pic>
      <p:sp>
        <p:nvSpPr>
          <p:cNvPr id="1048711" name="TextBox 17"/>
          <p:cNvSpPr txBox="1"/>
          <p:nvPr/>
        </p:nvSpPr>
        <p:spPr>
          <a:xfrm>
            <a:off x="8730532" y="23192"/>
            <a:ext cx="3281360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6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17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718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9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719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720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1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722" name="TextBox 16"/>
          <p:cNvSpPr txBox="1"/>
          <p:nvPr/>
        </p:nvSpPr>
        <p:spPr>
          <a:xfrm flipH="1">
            <a:off x="135928" y="1467677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1048723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02 – </a:t>
            </a:r>
            <a:r>
              <a:rPr dirty="0" sz="1400" lang="en-IN"/>
              <a:t>Explainable Multimodal Deep Learning for </a:t>
            </a:r>
            <a:r>
              <a:rPr dirty="0" sz="1400" lang="en-IN" err="1"/>
              <a:t>Tumor</a:t>
            </a:r>
            <a:r>
              <a:rPr dirty="0" sz="1400" lang="en-IN"/>
              <a:t> Detection and Classification in MRI and CT Images</a:t>
            </a:r>
            <a:br>
              <a:rPr dirty="0" sz="1400" lang="en-IN"/>
            </a:br>
            <a:r>
              <a:rPr dirty="0" sz="1400" lang="en-IN"/>
              <a:t>                B. V. S. N. S. Vinay et al., </a:t>
            </a:r>
            <a:r>
              <a:rPr dirty="0" sz="1400" i="1" lang="en-IN"/>
              <a:t>2026</a:t>
            </a:r>
            <a:r>
              <a:rPr dirty="0" sz="1400" lang="en-IN"/>
              <a:t> Procedia Computer Science</a:t>
            </a:r>
          </a:p>
        </p:txBody>
      </p:sp>
      <p:sp>
        <p:nvSpPr>
          <p:cNvPr id="1048724" name="Rounded Rectangle 18"/>
          <p:cNvSpPr/>
          <p:nvPr/>
        </p:nvSpPr>
        <p:spPr>
          <a:xfrm>
            <a:off x="600995" y="2056962"/>
            <a:ext cx="5120640" cy="379476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400">
                <a:solidFill>
                  <a:srgbClr val="232323"/>
                </a:solidFill>
                <a:latin typeface="Aptos"/>
              </a:defRPr>
            </a:pPr>
            <a:r>
              <a:rPr b="1" dirty="0"/>
              <a:t>DATASET &amp; PREPROCESSING</a:t>
            </a:r>
            <a:br>
              <a:rPr dirty="0"/>
            </a:br>
            <a:br>
              <a:rPr dirty="0" sz="1600"/>
            </a:br>
            <a:r>
              <a:rPr dirty="0" sz="1600"/>
              <a:t>• Combined MRI and CT datasets for tumor characterization.</a:t>
            </a:r>
            <a:br>
              <a:rPr dirty="0" sz="1600"/>
            </a:br>
            <a:r>
              <a:rPr dirty="0" sz="1600"/>
              <a:t>• Total reported images: 9,618.</a:t>
            </a:r>
            <a:br>
              <a:rPr dirty="0" sz="1600"/>
            </a:br>
            <a:r>
              <a:rPr dirty="0" sz="1600"/>
              <a:t>• CT: 4,618 images; MRI: 5,000 images.</a:t>
            </a:r>
            <a:br>
              <a:rPr dirty="0" sz="1600"/>
            </a:br>
            <a:r>
              <a:rPr dirty="0" sz="1600"/>
              <a:t>• Images resized to 224 × 224.</a:t>
            </a:r>
            <a:br>
              <a:rPr dirty="0" sz="1600"/>
            </a:br>
            <a:r>
              <a:rPr dirty="0" sz="1600"/>
              <a:t>• Z-score normalization used to standardize intensity.</a:t>
            </a:r>
            <a:br>
              <a:rPr dirty="0" sz="1600"/>
            </a:br>
            <a:r>
              <a:rPr dirty="0" sz="1600"/>
              <a:t>• Augmentation included rotation, flips, zooming and contrast variation.</a:t>
            </a:r>
            <a:br>
              <a:rPr dirty="0" sz="1600"/>
            </a:br>
            <a:r>
              <a:rPr dirty="0" sz="1600"/>
              <a:t>• Training/validation/testing split: 70% / 15% / 15%.</a:t>
            </a:r>
          </a:p>
        </p:txBody>
      </p:sp>
      <p:sp>
        <p:nvSpPr>
          <p:cNvPr id="1048725" name="Rounded Rectangle 19"/>
          <p:cNvSpPr/>
          <p:nvPr/>
        </p:nvSpPr>
        <p:spPr>
          <a:xfrm>
            <a:off x="6223883" y="2056962"/>
            <a:ext cx="2240280" cy="1143000"/>
          </a:xfrm>
          <a:prstGeom prst="roundRect"/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rPr dirty="0"/>
              <a:t>ACCURACY</a:t>
            </a:r>
            <a:br>
              <a:rPr dirty="0"/>
            </a:br>
            <a:r>
              <a:rPr dirty="0"/>
              <a:t>Overall correctness</a:t>
            </a:r>
          </a:p>
        </p:txBody>
      </p:sp>
      <p:sp>
        <p:nvSpPr>
          <p:cNvPr id="1048726" name="Rounded Rectangle 20"/>
          <p:cNvSpPr/>
          <p:nvPr/>
        </p:nvSpPr>
        <p:spPr>
          <a:xfrm>
            <a:off x="8760350" y="2025139"/>
            <a:ext cx="2240280" cy="1143000"/>
          </a:xfrm>
          <a:prstGeom prst="roundRect"/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rPr dirty="0"/>
              <a:t>PRECISION</a:t>
            </a:r>
            <a:br>
              <a:rPr dirty="0"/>
            </a:br>
            <a:r>
              <a:rPr dirty="0"/>
              <a:t>Correct positive predictions</a:t>
            </a:r>
          </a:p>
        </p:txBody>
      </p:sp>
      <p:sp>
        <p:nvSpPr>
          <p:cNvPr id="1048727" name="Rounded Rectangle 21"/>
          <p:cNvSpPr/>
          <p:nvPr/>
        </p:nvSpPr>
        <p:spPr>
          <a:xfrm>
            <a:off x="6267380" y="3409003"/>
            <a:ext cx="2240280" cy="1143000"/>
          </a:xfrm>
          <a:prstGeom prst="roundRect"/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t>RECALL</a:t>
            </a:r>
            <a:br/>
            <a:r>
              <a:t>Ability to detect positives</a:t>
            </a:r>
          </a:p>
        </p:txBody>
      </p:sp>
      <p:sp>
        <p:nvSpPr>
          <p:cNvPr id="1048728" name="Rounded Rectangle 22"/>
          <p:cNvSpPr/>
          <p:nvPr/>
        </p:nvSpPr>
        <p:spPr>
          <a:xfrm>
            <a:off x="8760350" y="3409003"/>
            <a:ext cx="2240280" cy="1143000"/>
          </a:xfrm>
          <a:prstGeom prst="roundRect"/>
          <a:solidFill>
            <a:srgbClr val="F8F8F8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rPr dirty="0"/>
              <a:t>F1-SCORE</a:t>
            </a:r>
            <a:br>
              <a:rPr dirty="0"/>
            </a:br>
            <a:r>
              <a:rPr dirty="0"/>
              <a:t>Balance of precision &amp; recall</a:t>
            </a:r>
          </a:p>
        </p:txBody>
      </p:sp>
      <p:sp>
        <p:nvSpPr>
          <p:cNvPr id="1048729" name="Rounded Rectangle 23"/>
          <p:cNvSpPr/>
          <p:nvPr/>
        </p:nvSpPr>
        <p:spPr>
          <a:xfrm>
            <a:off x="7182015" y="4756576"/>
            <a:ext cx="2788920" cy="685800"/>
          </a:xfrm>
          <a:prstGeom prst="roundRect"/>
          <a:solidFill>
            <a:srgbClr val="FFF5F2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500">
                <a:solidFill>
                  <a:srgbClr val="232323"/>
                </a:solidFill>
                <a:latin typeface="Aptos"/>
              </a:defRPr>
            </a:pPr>
            <a:r>
              <a:t>AUC–ROC + inference time</a:t>
            </a:r>
          </a:p>
        </p:txBody>
      </p:sp>
      <p:sp>
        <p:nvSpPr>
          <p:cNvPr id="1048730" name="TextBox 29"/>
          <p:cNvSpPr txBox="1"/>
          <p:nvPr/>
        </p:nvSpPr>
        <p:spPr>
          <a:xfrm>
            <a:off x="8698726" y="23192"/>
            <a:ext cx="3313165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4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5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36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73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10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738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3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739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0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741" name="TextBox 16"/>
          <p:cNvSpPr txBox="1"/>
          <p:nvPr/>
        </p:nvSpPr>
        <p:spPr>
          <a:xfrm flipH="1">
            <a:off x="183367" y="1445683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1048742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02 – </a:t>
            </a:r>
            <a:r>
              <a:rPr dirty="0" sz="1400" lang="en-IN"/>
              <a:t>Explainable Multimodal Deep Learning for </a:t>
            </a:r>
            <a:r>
              <a:rPr dirty="0" sz="1400" lang="en-IN" err="1"/>
              <a:t>Tumor</a:t>
            </a:r>
            <a:r>
              <a:rPr dirty="0" sz="1400" lang="en-IN"/>
              <a:t> Detection and Classification in MRI and CT Images</a:t>
            </a:r>
            <a:br>
              <a:rPr dirty="0" sz="1400" lang="en-IN"/>
            </a:br>
            <a:r>
              <a:rPr dirty="0" sz="1400" lang="en-IN"/>
              <a:t>                B. V. S. N. S. Vinay et al., </a:t>
            </a:r>
            <a:r>
              <a:rPr dirty="0" sz="1400" i="1" lang="en-IN"/>
              <a:t>2026</a:t>
            </a:r>
            <a:r>
              <a:rPr dirty="0" sz="1400" lang="en-IN"/>
              <a:t> Procedia Computer Science</a:t>
            </a:r>
          </a:p>
        </p:txBody>
      </p:sp>
      <p:sp>
        <p:nvSpPr>
          <p:cNvPr id="1048743" name="Rounded Rectangle 18"/>
          <p:cNvSpPr/>
          <p:nvPr/>
        </p:nvSpPr>
        <p:spPr>
          <a:xfrm>
            <a:off x="498987" y="1967015"/>
            <a:ext cx="5029200" cy="379476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500">
                <a:solidFill>
                  <a:srgbClr val="232323"/>
                </a:solidFill>
                <a:latin typeface="Aptos"/>
              </a:defRPr>
            </a:pPr>
            <a:r>
              <a:rPr b="1" dirty="0"/>
              <a:t>REPORTED RESULTS</a:t>
            </a:r>
            <a:br>
              <a:rPr dirty="0"/>
            </a:br>
            <a:br>
              <a:rPr dirty="0"/>
            </a:br>
            <a:r>
              <a:rPr dirty="0" sz="1600"/>
              <a:t>• Proposed multimodal model achieved very high classification performance.</a:t>
            </a:r>
            <a:br>
              <a:rPr dirty="0" sz="1600"/>
            </a:br>
            <a:r>
              <a:rPr dirty="0" sz="1600"/>
              <a:t>• MRI accuracy: 99.8%.</a:t>
            </a:r>
            <a:br>
              <a:rPr dirty="0" sz="1600"/>
            </a:br>
            <a:r>
              <a:rPr dirty="0" sz="1600"/>
              <a:t>• CT accuracy: 99.6%.</a:t>
            </a:r>
            <a:br>
              <a:rPr dirty="0" sz="1600"/>
            </a:br>
            <a:r>
              <a:rPr dirty="0" sz="1600"/>
              <a:t>• Reported inference time: 12.59 </a:t>
            </a:r>
            <a:r>
              <a:rPr dirty="0" sz="1600" err="1"/>
              <a:t>ms</a:t>
            </a:r>
            <a:r>
              <a:rPr dirty="0" sz="1600"/>
              <a:t> for MRI and 12.29 </a:t>
            </a:r>
            <a:r>
              <a:rPr dirty="0" sz="1600" err="1"/>
              <a:t>ms</a:t>
            </a:r>
            <a:r>
              <a:rPr dirty="0" sz="1600"/>
              <a:t> for CT.</a:t>
            </a:r>
            <a:br>
              <a:rPr dirty="0" sz="1600"/>
            </a:br>
            <a:r>
              <a:rPr dirty="0" sz="1600"/>
              <a:t>• Multimodal fusion provided complementary soft-tissue and hard-tissue information.</a:t>
            </a:r>
            <a:br>
              <a:rPr dirty="0" sz="1600"/>
            </a:br>
            <a:r>
              <a:rPr dirty="0" sz="1600"/>
              <a:t>• Explainability maps highlighted modality-specific tumor regions.</a:t>
            </a:r>
          </a:p>
        </p:txBody>
      </p:sp>
      <p:sp>
        <p:nvSpPr>
          <p:cNvPr id="1048744" name="TextBox 9"/>
          <p:cNvSpPr txBox="1"/>
          <p:nvPr/>
        </p:nvSpPr>
        <p:spPr>
          <a:xfrm>
            <a:off x="7093153" y="1651652"/>
            <a:ext cx="4572000" cy="36576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1" sz="1600">
                <a:solidFill>
                  <a:srgbClr val="EF7863"/>
                </a:solidFill>
                <a:latin typeface="Aptos"/>
              </a:defRPr>
            </a:pPr>
            <a:r>
              <a:rPr dirty="0"/>
              <a:t>Reported accuracy comparison</a:t>
            </a:r>
          </a:p>
        </p:txBody>
      </p:sp>
      <p:sp>
        <p:nvSpPr>
          <p:cNvPr id="1048745" name="Rectangle 19"/>
          <p:cNvSpPr/>
          <p:nvPr/>
        </p:nvSpPr>
        <p:spPr>
          <a:xfrm>
            <a:off x="7240944" y="2200832"/>
            <a:ext cx="3183209" cy="164592"/>
          </a:xfrm>
          <a:prstGeom prst="rect"/>
          <a:solidFill>
            <a:srgbClr val="37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6" name="Rectangle 21"/>
          <p:cNvSpPr/>
          <p:nvPr/>
        </p:nvSpPr>
        <p:spPr>
          <a:xfrm>
            <a:off x="7247528" y="2461605"/>
            <a:ext cx="3176625" cy="164592"/>
          </a:xfrm>
          <a:prstGeom prst="rect"/>
          <a:solidFill>
            <a:srgbClr val="4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7" name="Rectangle 23"/>
          <p:cNvSpPr/>
          <p:nvPr/>
        </p:nvSpPr>
        <p:spPr>
          <a:xfrm>
            <a:off x="7240944" y="2984097"/>
            <a:ext cx="3288548" cy="164592"/>
          </a:xfrm>
          <a:prstGeom prst="rect"/>
          <a:solidFill>
            <a:srgbClr val="37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8" name="Rectangle 25"/>
          <p:cNvSpPr/>
          <p:nvPr/>
        </p:nvSpPr>
        <p:spPr>
          <a:xfrm>
            <a:off x="7255329" y="3243591"/>
            <a:ext cx="3176625" cy="164592"/>
          </a:xfrm>
          <a:prstGeom prst="rect"/>
          <a:solidFill>
            <a:srgbClr val="4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Rectangle 27"/>
          <p:cNvSpPr/>
          <p:nvPr/>
        </p:nvSpPr>
        <p:spPr>
          <a:xfrm>
            <a:off x="7255329" y="3731982"/>
            <a:ext cx="3288548" cy="164592"/>
          </a:xfrm>
          <a:prstGeom prst="rect"/>
          <a:solidFill>
            <a:srgbClr val="37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0" name="Rectangle 29"/>
          <p:cNvSpPr/>
          <p:nvPr/>
        </p:nvSpPr>
        <p:spPr>
          <a:xfrm>
            <a:off x="7259540" y="4034709"/>
            <a:ext cx="3176625" cy="164592"/>
          </a:xfrm>
          <a:prstGeom prst="rect"/>
          <a:solidFill>
            <a:srgbClr val="4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1" name="Rectangle 31"/>
          <p:cNvSpPr/>
          <p:nvPr/>
        </p:nvSpPr>
        <p:spPr>
          <a:xfrm>
            <a:off x="7259541" y="4544172"/>
            <a:ext cx="3288548" cy="164592"/>
          </a:xfrm>
          <a:prstGeom prst="rect"/>
          <a:solidFill>
            <a:srgbClr val="37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2" name="Rectangle 33"/>
          <p:cNvSpPr/>
          <p:nvPr/>
        </p:nvSpPr>
        <p:spPr>
          <a:xfrm>
            <a:off x="7259541" y="4874574"/>
            <a:ext cx="3176625" cy="164592"/>
          </a:xfrm>
          <a:prstGeom prst="rect"/>
          <a:solidFill>
            <a:srgbClr val="4A9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3" name="TextBox 35"/>
          <p:cNvSpPr txBox="1"/>
          <p:nvPr/>
        </p:nvSpPr>
        <p:spPr>
          <a:xfrm>
            <a:off x="6095998" y="2203651"/>
            <a:ext cx="1280160" cy="27432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1" sz="1100">
                <a:solidFill>
                  <a:srgbClr val="232323"/>
                </a:solidFill>
                <a:latin typeface="Aptos"/>
              </a:defRPr>
            </a:pPr>
            <a:r>
              <a:rPr dirty="0"/>
              <a:t>CNN</a:t>
            </a:r>
          </a:p>
        </p:txBody>
      </p:sp>
      <p:sp>
        <p:nvSpPr>
          <p:cNvPr id="1048754" name="TextBox 37"/>
          <p:cNvSpPr txBox="1"/>
          <p:nvPr/>
        </p:nvSpPr>
        <p:spPr>
          <a:xfrm>
            <a:off x="6095998" y="3020909"/>
            <a:ext cx="1280160" cy="27432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1" sz="1100">
                <a:solidFill>
                  <a:srgbClr val="232323"/>
                </a:solidFill>
                <a:latin typeface="Aptos"/>
              </a:defRPr>
            </a:pPr>
            <a:r>
              <a:rPr dirty="0"/>
              <a:t>ResNet50</a:t>
            </a:r>
          </a:p>
        </p:txBody>
      </p:sp>
      <p:sp>
        <p:nvSpPr>
          <p:cNvPr id="1048755" name="TextBox 39"/>
          <p:cNvSpPr txBox="1"/>
          <p:nvPr/>
        </p:nvSpPr>
        <p:spPr>
          <a:xfrm>
            <a:off x="6056671" y="3803393"/>
            <a:ext cx="1280160" cy="27432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1" sz="1100">
                <a:solidFill>
                  <a:srgbClr val="232323"/>
                </a:solidFill>
                <a:latin typeface="Aptos"/>
              </a:defRPr>
            </a:pPr>
            <a:r>
              <a:rPr dirty="0"/>
              <a:t>MobileNetV2</a:t>
            </a:r>
          </a:p>
        </p:txBody>
      </p:sp>
      <p:sp>
        <p:nvSpPr>
          <p:cNvPr id="1048756" name="TextBox 41"/>
          <p:cNvSpPr txBox="1"/>
          <p:nvPr/>
        </p:nvSpPr>
        <p:spPr>
          <a:xfrm>
            <a:off x="6056671" y="4564506"/>
            <a:ext cx="1280160" cy="27432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1" sz="1100">
                <a:solidFill>
                  <a:srgbClr val="232323"/>
                </a:solidFill>
                <a:latin typeface="Aptos"/>
              </a:defRPr>
            </a:pPr>
            <a:r>
              <a:rPr dirty="0"/>
              <a:t>Proposed</a:t>
            </a:r>
          </a:p>
        </p:txBody>
      </p:sp>
      <p:sp>
        <p:nvSpPr>
          <p:cNvPr id="1048757" name="TextBox 43"/>
          <p:cNvSpPr txBox="1"/>
          <p:nvPr/>
        </p:nvSpPr>
        <p:spPr>
          <a:xfrm>
            <a:off x="10529492" y="2121611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96.7%</a:t>
            </a:r>
          </a:p>
        </p:txBody>
      </p:sp>
      <p:sp>
        <p:nvSpPr>
          <p:cNvPr id="1048758" name="TextBox 45"/>
          <p:cNvSpPr txBox="1"/>
          <p:nvPr/>
        </p:nvSpPr>
        <p:spPr>
          <a:xfrm>
            <a:off x="10529492" y="2392921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96.5%</a:t>
            </a:r>
          </a:p>
        </p:txBody>
      </p:sp>
      <p:sp>
        <p:nvSpPr>
          <p:cNvPr id="1048759" name="TextBox 47"/>
          <p:cNvSpPr txBox="1"/>
          <p:nvPr/>
        </p:nvSpPr>
        <p:spPr>
          <a:xfrm>
            <a:off x="10543877" y="2897418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99.9%</a:t>
            </a:r>
          </a:p>
        </p:txBody>
      </p:sp>
      <p:sp>
        <p:nvSpPr>
          <p:cNvPr id="1048760" name="TextBox 49"/>
          <p:cNvSpPr txBox="1"/>
          <p:nvPr/>
        </p:nvSpPr>
        <p:spPr>
          <a:xfrm>
            <a:off x="10543877" y="3179583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99.1%</a:t>
            </a:r>
          </a:p>
        </p:txBody>
      </p:sp>
      <p:sp>
        <p:nvSpPr>
          <p:cNvPr id="1048761" name="TextBox 51"/>
          <p:cNvSpPr txBox="1"/>
          <p:nvPr/>
        </p:nvSpPr>
        <p:spPr>
          <a:xfrm>
            <a:off x="10551806" y="3689093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99.7%</a:t>
            </a:r>
          </a:p>
        </p:txBody>
      </p:sp>
      <p:sp>
        <p:nvSpPr>
          <p:cNvPr id="1048762" name="TextBox 53"/>
          <p:cNvSpPr txBox="1"/>
          <p:nvPr/>
        </p:nvSpPr>
        <p:spPr>
          <a:xfrm>
            <a:off x="10529492" y="3939502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99.5%</a:t>
            </a:r>
          </a:p>
        </p:txBody>
      </p:sp>
      <p:sp>
        <p:nvSpPr>
          <p:cNvPr id="1048763" name="TextBox 55"/>
          <p:cNvSpPr txBox="1"/>
          <p:nvPr/>
        </p:nvSpPr>
        <p:spPr>
          <a:xfrm>
            <a:off x="10551806" y="4519326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99.8%</a:t>
            </a:r>
          </a:p>
        </p:txBody>
      </p:sp>
      <p:sp>
        <p:nvSpPr>
          <p:cNvPr id="1048764" name="TextBox 57"/>
          <p:cNvSpPr txBox="1"/>
          <p:nvPr/>
        </p:nvSpPr>
        <p:spPr>
          <a:xfrm>
            <a:off x="10551806" y="4815700"/>
            <a:ext cx="594360" cy="228600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l">
              <a:spcAft>
                <a:spcPts val="300"/>
              </a:spcAft>
              <a:defRPr b="0" sz="900">
                <a:solidFill>
                  <a:srgbClr val="232323"/>
                </a:solidFill>
                <a:latin typeface="Aptos"/>
              </a:defRPr>
            </a:pPr>
            <a:r>
              <a:rPr dirty="0"/>
              <a:t>99.6%</a:t>
            </a:r>
          </a:p>
        </p:txBody>
      </p:sp>
      <p:sp>
        <p:nvSpPr>
          <p:cNvPr id="1048765" name="TextBox 59"/>
          <p:cNvSpPr txBox="1"/>
          <p:nvPr/>
        </p:nvSpPr>
        <p:spPr>
          <a:xfrm>
            <a:off x="7093153" y="5350044"/>
            <a:ext cx="3383280" cy="301621"/>
          </a:xfrm>
          <a:prstGeom prst="rect"/>
          <a:noFill/>
          <a:ln>
            <a:noFill/>
          </a:ln>
        </p:spPr>
        <p:txBody>
          <a:bodyPr anchor="t" bIns="73152" lIns="73152" rIns="73152" tIns="73152" wrap="square">
            <a:spAutoFit/>
          </a:bodyPr>
          <a:p>
            <a:pPr algn="ctr">
              <a:spcAft>
                <a:spcPts val="300"/>
              </a:spcAft>
              <a:defRPr b="0" sz="1000">
                <a:solidFill>
                  <a:srgbClr val="5A5A5A"/>
                </a:solidFill>
                <a:latin typeface="Aptos"/>
              </a:defRPr>
            </a:pPr>
            <a:r>
              <a:rPr dirty="0"/>
              <a:t>MRI = blue </a:t>
            </a:r>
            <a:r>
              <a:rPr dirty="0" lang="en-IN"/>
              <a:t>              </a:t>
            </a:r>
            <a:r>
              <a:rPr dirty="0"/>
              <a:t>  CT = green</a:t>
            </a:r>
          </a:p>
        </p:txBody>
      </p:sp>
      <p:sp>
        <p:nvSpPr>
          <p:cNvPr id="1048766" name="TextBox 61"/>
          <p:cNvSpPr txBox="1"/>
          <p:nvPr/>
        </p:nvSpPr>
        <p:spPr>
          <a:xfrm>
            <a:off x="8754386" y="23192"/>
            <a:ext cx="3349122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1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72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77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11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774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4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775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777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1048778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02 – </a:t>
            </a:r>
            <a:r>
              <a:rPr dirty="0" sz="1400" lang="en-IN"/>
              <a:t>Explainable Multimodal Deep Learning for </a:t>
            </a:r>
            <a:r>
              <a:rPr dirty="0" sz="1400" lang="en-IN" err="1"/>
              <a:t>Tumor</a:t>
            </a:r>
            <a:r>
              <a:rPr dirty="0" sz="1400" lang="en-IN"/>
              <a:t> Detection and Classification in MRI and CT Images</a:t>
            </a:r>
            <a:br>
              <a:rPr dirty="0" sz="1400" lang="en-IN"/>
            </a:br>
            <a:r>
              <a:rPr dirty="0" sz="1400" lang="en-IN"/>
              <a:t>                B. V. S. N. S. Vinay et al., </a:t>
            </a:r>
            <a:r>
              <a:rPr dirty="0" sz="1400" i="1" lang="en-IN"/>
              <a:t>2026</a:t>
            </a:r>
            <a:r>
              <a:rPr dirty="0" sz="1400" lang="en-IN"/>
              <a:t> Procedia Computer Science</a:t>
            </a:r>
          </a:p>
        </p:txBody>
      </p:sp>
      <p:sp>
        <p:nvSpPr>
          <p:cNvPr id="1048779" name="Rounded Rectangle 6"/>
          <p:cNvSpPr/>
          <p:nvPr/>
        </p:nvSpPr>
        <p:spPr>
          <a:xfrm>
            <a:off x="264159" y="2177976"/>
            <a:ext cx="5699760" cy="4008289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Multimodal approach:</a:t>
            </a:r>
            <a:r>
              <a:rPr dirty="0" sz="1600" lang="en-IN">
                <a:solidFill>
                  <a:schemeClr val="tx1"/>
                </a:solidFill>
              </a:rPr>
              <a:t> combines complementary information from MRI and CT.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Hybrid architecture:</a:t>
            </a:r>
            <a:r>
              <a:rPr dirty="0" sz="1600" lang="en-IN">
                <a:solidFill>
                  <a:schemeClr val="tx1"/>
                </a:solidFill>
              </a:rPr>
              <a:t> CNNs capture local features while </a:t>
            </a:r>
            <a:r>
              <a:rPr dirty="0" sz="1600" lang="en-IN" err="1">
                <a:solidFill>
                  <a:schemeClr val="tx1"/>
                </a:solidFill>
              </a:rPr>
              <a:t>ViTs</a:t>
            </a:r>
            <a:r>
              <a:rPr dirty="0" sz="1600" lang="en-IN">
                <a:solidFill>
                  <a:schemeClr val="tx1"/>
                </a:solidFill>
              </a:rPr>
              <a:t> capture global contextual information.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High classification performance:</a:t>
            </a:r>
            <a:r>
              <a:rPr dirty="0" sz="1600" lang="en-IN">
                <a:solidFill>
                  <a:schemeClr val="tx1"/>
                </a:solidFill>
              </a:rPr>
              <a:t> reports very high accuracy across the imaging modalities.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Explainable AI:</a:t>
            </a:r>
            <a:r>
              <a:rPr dirty="0" sz="1600" lang="en-IN">
                <a:solidFill>
                  <a:schemeClr val="tx1"/>
                </a:solidFill>
              </a:rPr>
              <a:t> uses both </a:t>
            </a:r>
            <a:r>
              <a:rPr b="1" dirty="0" sz="1600" lang="en-IN">
                <a:solidFill>
                  <a:schemeClr val="tx1"/>
                </a:solidFill>
              </a:rPr>
              <a:t>Grad-CAM and SHAP</a:t>
            </a:r>
            <a:r>
              <a:rPr dirty="0" sz="1600" lang="en-IN">
                <a:solidFill>
                  <a:schemeClr val="tx1"/>
                </a:solidFill>
              </a:rPr>
              <a:t> to provide visual and feature-level explanations.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Clinical relevance:</a:t>
            </a:r>
            <a:r>
              <a:rPr dirty="0" sz="1600" lang="en-IN">
                <a:solidFill>
                  <a:schemeClr val="tx1"/>
                </a:solidFill>
              </a:rPr>
              <a:t> highlighted </a:t>
            </a:r>
            <a:r>
              <a:rPr dirty="0" sz="1600" lang="en-IN" err="1">
                <a:solidFill>
                  <a:schemeClr val="tx1"/>
                </a:solidFill>
              </a:rPr>
              <a:t>tumor</a:t>
            </a:r>
            <a:r>
              <a:rPr dirty="0" sz="1600" lang="en-IN">
                <a:solidFill>
                  <a:schemeClr val="tx1"/>
                </a:solidFill>
              </a:rPr>
              <a:t> regions can help users understand why a prediction was generated.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Performance evaluation:</a:t>
            </a:r>
            <a:r>
              <a:rPr dirty="0" sz="1600" lang="en-IN">
                <a:solidFill>
                  <a:schemeClr val="tx1"/>
                </a:solidFill>
              </a:rPr>
              <a:t> uses multiple metrics including accuracy, precision, recall, F1-score and AUC-ROC.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Fast inference:</a:t>
            </a:r>
            <a:r>
              <a:rPr dirty="0" sz="1600" lang="en-IN">
                <a:solidFill>
                  <a:schemeClr val="tx1"/>
                </a:solidFill>
              </a:rPr>
              <a:t> reported inference times are in the millisecond range.</a:t>
            </a:r>
          </a:p>
        </p:txBody>
      </p:sp>
      <p:sp>
        <p:nvSpPr>
          <p:cNvPr id="1048780" name="Rounded Rectangle 17"/>
          <p:cNvSpPr/>
          <p:nvPr/>
        </p:nvSpPr>
        <p:spPr>
          <a:xfrm>
            <a:off x="6146800" y="2194559"/>
            <a:ext cx="5699760" cy="3749041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study relies on </a:t>
            </a:r>
            <a:r>
              <a:rPr b="1" dirty="0" sz="1600" lang="en-IN">
                <a:solidFill>
                  <a:schemeClr val="tx1"/>
                </a:solidFill>
              </a:rPr>
              <a:t>curated medical imaging datasets</a:t>
            </a:r>
            <a:r>
              <a:rPr dirty="0" sz="1600" lang="en-IN">
                <a:solidFill>
                  <a:schemeClr val="tx1"/>
                </a:solidFill>
              </a:rPr>
              <a:t>, which may not fully represent the variability of real-world clinical data.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MRI and CT images can differ in acquisition protocols, image quality and patient characteristics, creating challenges for generalization.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Vision Transformers can require substantial computational resources</a:t>
            </a:r>
            <a:r>
              <a:rPr dirty="0" sz="1600" lang="en-IN">
                <a:solidFill>
                  <a:schemeClr val="tx1"/>
                </a:solidFill>
              </a:rPr>
              <a:t>, especially compared with lightweight CNN architectures.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Explainability methods such as Grad-CAM and SHAP are </a:t>
            </a:r>
            <a:r>
              <a:rPr b="1" dirty="0" sz="1600" lang="en-IN">
                <a:solidFill>
                  <a:schemeClr val="tx1"/>
                </a:solidFill>
              </a:rPr>
              <a:t>post-hoc interpretation techniques</a:t>
            </a:r>
            <a:r>
              <a:rPr dirty="0" sz="1600" lang="en-IN">
                <a:solidFill>
                  <a:schemeClr val="tx1"/>
                </a:solidFill>
              </a:rPr>
              <a:t> and do not necessarily provide a complete causal explanation of the model's decision.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Further </a:t>
            </a:r>
            <a:r>
              <a:rPr b="1" dirty="0" sz="1600" lang="en-IN">
                <a:solidFill>
                  <a:schemeClr val="tx1"/>
                </a:solidFill>
              </a:rPr>
              <a:t>external clinical validation</a:t>
            </a:r>
            <a:r>
              <a:rPr dirty="0" sz="1600" lang="en-IN">
                <a:solidFill>
                  <a:schemeClr val="tx1"/>
                </a:solidFill>
              </a:rPr>
              <a:t> would be required before practical deployment in diverse healthcare </a:t>
            </a:r>
            <a:r>
              <a:rPr dirty="0" lang="en-IN">
                <a:solidFill>
                  <a:schemeClr val="tx1"/>
                </a:solidFill>
              </a:rPr>
              <a:t>environments.</a:t>
            </a:r>
          </a:p>
        </p:txBody>
      </p:sp>
      <p:sp>
        <p:nvSpPr>
          <p:cNvPr id="1048781" name="Rectangle 7"/>
          <p:cNvSpPr/>
          <p:nvPr/>
        </p:nvSpPr>
        <p:spPr>
          <a:xfrm>
            <a:off x="6234822" y="2027452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82" name="Rectangle 18"/>
          <p:cNvSpPr/>
          <p:nvPr/>
        </p:nvSpPr>
        <p:spPr>
          <a:xfrm>
            <a:off x="393386" y="2027452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83" name="TextBox 8"/>
          <p:cNvSpPr txBox="1"/>
          <p:nvPr/>
        </p:nvSpPr>
        <p:spPr>
          <a:xfrm>
            <a:off x="393386" y="1646726"/>
            <a:ext cx="1075872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1048784" name="TextBox 19"/>
          <p:cNvSpPr txBox="1"/>
          <p:nvPr/>
        </p:nvSpPr>
        <p:spPr>
          <a:xfrm>
            <a:off x="6259202" y="1648049"/>
            <a:ext cx="1249060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48785" name="TextBox 11"/>
          <p:cNvSpPr txBox="1"/>
          <p:nvPr/>
        </p:nvSpPr>
        <p:spPr>
          <a:xfrm>
            <a:off x="8666922" y="23192"/>
            <a:ext cx="3344970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9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0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791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792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12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793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5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794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5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796" name="TextBox 16"/>
          <p:cNvSpPr txBox="1"/>
          <p:nvPr/>
        </p:nvSpPr>
        <p:spPr>
          <a:xfrm flipH="1">
            <a:off x="135928" y="1326501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1048797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02 – </a:t>
            </a:r>
            <a:r>
              <a:rPr dirty="0" sz="1400" lang="en-IN"/>
              <a:t>Explainable Multimodal Deep Learning for </a:t>
            </a:r>
            <a:r>
              <a:rPr dirty="0" sz="1400" lang="en-IN" err="1"/>
              <a:t>Tumor</a:t>
            </a:r>
            <a:r>
              <a:rPr dirty="0" sz="1400" lang="en-IN"/>
              <a:t> Detection and Classification in MRI and CT Images</a:t>
            </a:r>
            <a:br>
              <a:rPr dirty="0" sz="1400" lang="en-IN"/>
            </a:br>
            <a:r>
              <a:rPr dirty="0" sz="1400" lang="en-IN"/>
              <a:t>               B. V. S. N. S. Vinay et al., </a:t>
            </a:r>
            <a:r>
              <a:rPr dirty="0" sz="1400" i="1" lang="en-IN"/>
              <a:t>2026</a:t>
            </a:r>
            <a:r>
              <a:rPr dirty="0" sz="1400" lang="en-IN"/>
              <a:t> Procedia Computer Science</a:t>
            </a:r>
          </a:p>
        </p:txBody>
      </p:sp>
      <p:sp>
        <p:nvSpPr>
          <p:cNvPr id="1048798" name="TextBox 7"/>
          <p:cNvSpPr txBox="1"/>
          <p:nvPr/>
        </p:nvSpPr>
        <p:spPr>
          <a:xfrm>
            <a:off x="675135" y="2098388"/>
            <a:ext cx="5775091" cy="3108543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lang="en-IN"/>
              <a:t>How this paper supports our project</a:t>
            </a:r>
          </a:p>
          <a:p>
            <a:pPr>
              <a:buNone/>
            </a:pPr>
            <a:endParaRPr b="1" dirty="0" lang="en-IN"/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It directly supports our use of multimodal medical imaging, particularly the combination of MRI and CT.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use of CNNs is relevant to our disease-detection component.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paper's use of Grad-CAM strongly supports our plan to make CNN predictions visually explainable.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use of multiple imaging modalities demonstrates how complementary information can improve automated diagnosis.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Its CNN + Transformer concept provides a possible direction for improving feature extraction in our system.</a:t>
            </a:r>
          </a:p>
        </p:txBody>
      </p:sp>
      <p:sp>
        <p:nvSpPr>
          <p:cNvPr id="1048799" name="TextBox 9"/>
          <p:cNvSpPr txBox="1"/>
          <p:nvPr/>
        </p:nvSpPr>
        <p:spPr>
          <a:xfrm>
            <a:off x="6677086" y="2142422"/>
            <a:ext cx="4048579" cy="3693319"/>
          </a:xfrm>
          <a:prstGeom prst="rect"/>
          <a:noFill/>
        </p:spPr>
        <p:txBody>
          <a:bodyPr wrap="square">
            <a:spAutoFit/>
          </a:bodyPr>
          <a:p>
            <a:r>
              <a:rPr b="1" dirty="0" lang="en-IN"/>
              <a:t>                           </a:t>
            </a:r>
            <a:r>
              <a:rPr b="1" dirty="0" lang="en-IN" u="sng"/>
              <a:t>Workflow</a:t>
            </a:r>
          </a:p>
          <a:p>
            <a:endParaRPr b="1" dirty="0" lang="en-IN" u="sng"/>
          </a:p>
          <a:p>
            <a:r>
              <a:rPr dirty="0" lang="en-IN"/>
              <a:t>                     X-ray + CT + MRI</a:t>
            </a:r>
            <a:br>
              <a:rPr dirty="0" lang="en-IN"/>
            </a:br>
            <a:r>
              <a:rPr dirty="0" lang="en-IN"/>
              <a:t>                               </a:t>
            </a:r>
            <a:r>
              <a:rPr b="1" dirty="0" lang="en-IN"/>
              <a:t>↓</a:t>
            </a:r>
            <a:br>
              <a:rPr dirty="0" lang="en-IN"/>
            </a:br>
            <a:r>
              <a:rPr dirty="0" lang="en-IN"/>
              <a:t>   Modality Identification &amp; Preprocessing</a:t>
            </a:r>
            <a:br>
              <a:rPr dirty="0" lang="en-IN"/>
            </a:br>
            <a:r>
              <a:rPr dirty="0" lang="en-IN"/>
              <a:t>                               </a:t>
            </a:r>
            <a:r>
              <a:rPr b="1" dirty="0" lang="en-IN"/>
              <a:t>↓</a:t>
            </a:r>
            <a:br>
              <a:rPr dirty="0" lang="en-IN"/>
            </a:br>
            <a:r>
              <a:rPr dirty="0" lang="en-IN"/>
              <a:t>             CNN-based Disease Detection</a:t>
            </a:r>
            <a:br>
              <a:rPr dirty="0" lang="en-IN"/>
            </a:br>
            <a:r>
              <a:rPr dirty="0" lang="en-IN"/>
              <a:t>                               </a:t>
            </a:r>
            <a:r>
              <a:rPr b="1" dirty="0" lang="en-IN"/>
              <a:t>↓</a:t>
            </a:r>
            <a:br>
              <a:rPr dirty="0" lang="en-IN"/>
            </a:br>
            <a:r>
              <a:rPr dirty="0" lang="en-IN"/>
              <a:t>              Grad-CAM Explainability</a:t>
            </a:r>
            <a:br>
              <a:rPr dirty="0" lang="en-IN"/>
            </a:br>
            <a:r>
              <a:rPr dirty="0" lang="en-IN"/>
              <a:t>                               </a:t>
            </a:r>
            <a:r>
              <a:rPr b="1" dirty="0" lang="en-IN"/>
              <a:t>↓</a:t>
            </a:r>
            <a:br>
              <a:rPr dirty="0" lang="en-IN"/>
            </a:br>
            <a:r>
              <a:rPr dirty="0" lang="en-IN"/>
              <a:t>   RAG-based Medical Literature Retrieval</a:t>
            </a:r>
            <a:br>
              <a:rPr dirty="0" lang="en-IN"/>
            </a:br>
            <a:r>
              <a:rPr dirty="0" lang="en-IN"/>
              <a:t>                              </a:t>
            </a:r>
            <a:r>
              <a:rPr b="1" dirty="0" lang="en-IN"/>
              <a:t>↓</a:t>
            </a:r>
            <a:br>
              <a:rPr dirty="0" lang="en-IN"/>
            </a:br>
            <a:r>
              <a:rPr dirty="0" lang="en-IN"/>
              <a:t>            LLM-based Clinical Summary</a:t>
            </a:r>
          </a:p>
        </p:txBody>
      </p:sp>
      <p:sp>
        <p:nvSpPr>
          <p:cNvPr id="1048800" name="TextBox 17"/>
          <p:cNvSpPr txBox="1"/>
          <p:nvPr/>
        </p:nvSpPr>
        <p:spPr>
          <a:xfrm>
            <a:off x="8698726" y="23192"/>
            <a:ext cx="3313165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5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06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07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13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08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6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09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0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811" name="TextBox 16"/>
          <p:cNvSpPr txBox="1"/>
          <p:nvPr/>
        </p:nvSpPr>
        <p:spPr>
          <a:xfrm flipH="1">
            <a:off x="183367" y="1578316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&amp; Setup | key Results | Strengths &amp; Limitations | Relevance to my research |</a:t>
            </a:r>
          </a:p>
        </p:txBody>
      </p:sp>
      <p:sp>
        <p:nvSpPr>
          <p:cNvPr id="1048812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03 – </a:t>
            </a:r>
            <a:r>
              <a:rPr dirty="0" sz="1400" lang="en-IN"/>
              <a:t>An Interpretable CNN Framework for Multi-Class Brain </a:t>
            </a:r>
            <a:r>
              <a:rPr dirty="0" sz="1400" lang="en-IN" err="1"/>
              <a:t>Tumor</a:t>
            </a:r>
            <a:r>
              <a:rPr dirty="0" sz="1400" lang="en-IN"/>
              <a:t> Classification with Visual Explanation in MRI Scans</a:t>
            </a:r>
            <a:br>
              <a:rPr dirty="0" sz="1400" lang="en-IN"/>
            </a:br>
            <a:r>
              <a:rPr dirty="0" sz="1400" lang="en-IN"/>
              <a:t>                </a:t>
            </a:r>
            <a:r>
              <a:rPr dirty="0" sz="1400" lang="en-IN" err="1"/>
              <a:t>Helala</a:t>
            </a:r>
            <a:r>
              <a:rPr dirty="0" sz="1400" lang="en-IN"/>
              <a:t> AlShehri et al., </a:t>
            </a:r>
            <a:r>
              <a:rPr dirty="0" sz="1400" i="1" lang="en-IN"/>
              <a:t>2026</a:t>
            </a:r>
            <a:r>
              <a:rPr dirty="0" sz="1400" lang="en-IN"/>
              <a:t> Systems and Soft Computing</a:t>
            </a:r>
          </a:p>
        </p:txBody>
      </p:sp>
      <p:sp>
        <p:nvSpPr>
          <p:cNvPr id="1048813" name="TextBox 7"/>
          <p:cNvSpPr txBox="1"/>
          <p:nvPr/>
        </p:nvSpPr>
        <p:spPr>
          <a:xfrm>
            <a:off x="364603" y="2255425"/>
            <a:ext cx="10437341" cy="3785652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1600" lang="en-IN"/>
              <a:t>Interpretable Lightweight CNN Framework</a:t>
            </a:r>
          </a:p>
          <a:p>
            <a:pPr>
              <a:buNone/>
            </a:pPr>
            <a:endParaRPr b="1" dirty="0" sz="1600" lang="en-IN"/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paper proposes a lightweight CNN-based framework for automatic multi-class brain </a:t>
            </a:r>
            <a:r>
              <a:rPr dirty="0" sz="1600" lang="en-IN" err="1"/>
              <a:t>tumor</a:t>
            </a:r>
            <a:r>
              <a:rPr dirty="0" sz="1600" lang="en-IN"/>
              <a:t> classification from MRI scans.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model classifies MRI images into four categories: 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b="1" dirty="0" sz="1600" lang="en-IN"/>
              <a:t>No </a:t>
            </a:r>
            <a:r>
              <a:rPr b="1" dirty="0" sz="1600" lang="en-IN" err="1"/>
              <a:t>Tumor</a:t>
            </a:r>
            <a:r>
              <a:rPr dirty="0" sz="1600" lang="en-IN"/>
              <a:t> 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b="1" dirty="0" sz="1600" lang="en-IN"/>
              <a:t>Pituitary </a:t>
            </a:r>
            <a:r>
              <a:rPr b="1" dirty="0" sz="1600" lang="en-IN" err="1"/>
              <a:t>Tumor</a:t>
            </a:r>
            <a:r>
              <a:rPr dirty="0" sz="1600" lang="en-IN"/>
              <a:t> 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b="1" dirty="0" sz="1600" lang="en-IN"/>
              <a:t>Meningioma</a:t>
            </a:r>
            <a:r>
              <a:rPr dirty="0" sz="1600" lang="en-IN"/>
              <a:t> </a:t>
            </a:r>
          </a:p>
          <a:p>
            <a:pPr indent="-285750" lvl="1" marL="742950">
              <a:buFont typeface="Arial" panose="020B0604020202020204" pitchFamily="34" charset="0"/>
              <a:buChar char="•"/>
            </a:pPr>
            <a:r>
              <a:rPr b="1" dirty="0" sz="1600" lang="en-IN"/>
              <a:t>Glioma</a:t>
            </a:r>
            <a:r>
              <a:rPr dirty="0" sz="1600" lang="en-IN"/>
              <a:t>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CNN uses multiple convolutional blocks to progressively learn important spatial, structural, and </a:t>
            </a:r>
            <a:r>
              <a:rPr dirty="0" sz="1600" lang="en-IN" err="1"/>
              <a:t>tumor</a:t>
            </a:r>
            <a:r>
              <a:rPr dirty="0" sz="1600" lang="en-IN"/>
              <a:t>-related features from MRI images.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architecture is intentionally designed to be lightweight, reducing computational requirements while maintaining high classification performance.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input MRI images are </a:t>
            </a:r>
            <a:r>
              <a:rPr dirty="0" sz="1600" lang="en-IN" err="1"/>
              <a:t>preprocessed</a:t>
            </a:r>
            <a:r>
              <a:rPr dirty="0" sz="1600" lang="en-IN"/>
              <a:t> and resized before being provided to the CNN.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Data augmentation is applied during training to improve robustness and reduce overfitting. </a:t>
            </a:r>
          </a:p>
        </p:txBody>
      </p:sp>
      <p:sp>
        <p:nvSpPr>
          <p:cNvPr id="1048814" name="TextBox 9"/>
          <p:cNvSpPr txBox="1"/>
          <p:nvPr/>
        </p:nvSpPr>
        <p:spPr>
          <a:xfrm>
            <a:off x="8666922" y="23192"/>
            <a:ext cx="3344970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9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20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21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14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22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7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23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24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825" name="TextBox 16"/>
          <p:cNvSpPr txBox="1"/>
          <p:nvPr/>
        </p:nvSpPr>
        <p:spPr>
          <a:xfrm flipH="1">
            <a:off x="183367" y="1454927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Data &amp; Setup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| Strengths &amp; Limitations | Relevance to my research |</a:t>
            </a:r>
          </a:p>
        </p:txBody>
      </p:sp>
      <p:sp>
        <p:nvSpPr>
          <p:cNvPr id="1048826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03 – </a:t>
            </a:r>
            <a:r>
              <a:rPr dirty="0" sz="1400" lang="en-IN"/>
              <a:t>An Interpretable CNN Framework for Multi-Class Brain </a:t>
            </a:r>
            <a:r>
              <a:rPr dirty="0" sz="1400" lang="en-IN" err="1"/>
              <a:t>Tumor</a:t>
            </a:r>
            <a:r>
              <a:rPr dirty="0" sz="1400" lang="en-IN"/>
              <a:t> Classification with Visual Explanation in MRI Scans</a:t>
            </a:r>
            <a:br>
              <a:rPr dirty="0" sz="1400" lang="en-IN"/>
            </a:br>
            <a:r>
              <a:rPr dirty="0" sz="1400" lang="en-IN"/>
              <a:t>                </a:t>
            </a:r>
            <a:r>
              <a:rPr dirty="0" sz="1400" lang="en-IN" err="1"/>
              <a:t>Helala</a:t>
            </a:r>
            <a:r>
              <a:rPr dirty="0" sz="1400" lang="en-IN"/>
              <a:t> AlShehri et al., </a:t>
            </a:r>
            <a:r>
              <a:rPr dirty="0" sz="1400" i="1" lang="en-IN"/>
              <a:t>2026</a:t>
            </a:r>
            <a:r>
              <a:rPr dirty="0" sz="1400" lang="en-IN"/>
              <a:t> Systems and Soft Computing</a:t>
            </a:r>
          </a:p>
        </p:txBody>
      </p:sp>
      <p:sp>
        <p:nvSpPr>
          <p:cNvPr id="1048827" name="Rounded Rectangle 18"/>
          <p:cNvSpPr/>
          <p:nvPr/>
        </p:nvSpPr>
        <p:spPr>
          <a:xfrm>
            <a:off x="600995" y="1921295"/>
            <a:ext cx="5074920" cy="3886200"/>
          </a:xfrm>
          <a:prstGeom prst="roundRect"/>
          <a:solidFill>
            <a:srgbClr val="FFFFFF"/>
          </a:solidFill>
          <a:ln w="12700"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l">
              <a:defRPr b="0" sz="1400">
                <a:solidFill>
                  <a:srgbClr val="232323"/>
                </a:solidFill>
                <a:latin typeface="Aptos"/>
              </a:defRPr>
            </a:pPr>
            <a:r>
              <a:rPr b="1" dirty="0" sz="1600"/>
              <a:t>MRI DATASET</a:t>
            </a:r>
            <a:br>
              <a:rPr dirty="0"/>
            </a:br>
            <a:br>
              <a:rPr dirty="0"/>
            </a:br>
            <a:r>
              <a:rPr dirty="0" sz="1600"/>
              <a:t>• 7,023 MRI images.</a:t>
            </a:r>
            <a:br>
              <a:rPr dirty="0" sz="1600"/>
            </a:br>
            <a:r>
              <a:rPr dirty="0" sz="1600"/>
              <a:t>• Four classes: normal, pituitary, meningioma and glioma.</a:t>
            </a:r>
            <a:br>
              <a:rPr dirty="0" sz="1600"/>
            </a:br>
            <a:r>
              <a:rPr dirty="0" sz="1600"/>
              <a:t>• Training: 4,569 images.</a:t>
            </a:r>
            <a:br>
              <a:rPr dirty="0" sz="1600"/>
            </a:br>
            <a:r>
              <a:rPr dirty="0" sz="1600"/>
              <a:t>• Validation: 1,143 images.</a:t>
            </a:r>
            <a:br>
              <a:rPr dirty="0" sz="1600"/>
            </a:br>
            <a:r>
              <a:rPr dirty="0" sz="1600"/>
              <a:t>• Testing: 1,311 images.</a:t>
            </a:r>
            <a:br>
              <a:rPr dirty="0" sz="1600"/>
            </a:br>
            <a:r>
              <a:rPr dirty="0" sz="1600"/>
              <a:t>• Images resized to 125 × 125 and normalized.</a:t>
            </a:r>
            <a:br>
              <a:rPr dirty="0" sz="1600"/>
            </a:br>
            <a:r>
              <a:rPr dirty="0" sz="1600"/>
              <a:t>• Augmentation: rotation, small shifts and horizontal flip.</a:t>
            </a:r>
            <a:br>
              <a:rPr dirty="0" sz="1600"/>
            </a:br>
            <a:r>
              <a:rPr dirty="0" sz="1600"/>
              <a:t>• Macro-averaged metrics used for balanced assessment.</a:t>
            </a:r>
          </a:p>
        </p:txBody>
      </p:sp>
      <p:sp>
        <p:nvSpPr>
          <p:cNvPr id="1048828" name="Rounded Rectangle 19"/>
          <p:cNvSpPr/>
          <p:nvPr/>
        </p:nvSpPr>
        <p:spPr>
          <a:xfrm>
            <a:off x="6100168" y="2029632"/>
            <a:ext cx="2103120" cy="10515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400">
                <a:solidFill>
                  <a:srgbClr val="232323"/>
                </a:solidFill>
                <a:latin typeface="Aptos"/>
              </a:defRPr>
            </a:pPr>
            <a:r>
              <a:t>Normal</a:t>
            </a:r>
            <a:br/>
            <a:r>
              <a:t>2,000 images</a:t>
            </a:r>
          </a:p>
        </p:txBody>
      </p:sp>
      <p:sp>
        <p:nvSpPr>
          <p:cNvPr id="1048829" name="Rounded Rectangle 20"/>
          <p:cNvSpPr/>
          <p:nvPr/>
        </p:nvSpPr>
        <p:spPr>
          <a:xfrm>
            <a:off x="8543676" y="2029632"/>
            <a:ext cx="2103120" cy="10515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400">
                <a:solidFill>
                  <a:srgbClr val="232323"/>
                </a:solidFill>
                <a:latin typeface="Aptos"/>
              </a:defRPr>
            </a:pPr>
            <a:r>
              <a:t>Pituitary</a:t>
            </a:r>
            <a:br/>
            <a:r>
              <a:t>1,757 images</a:t>
            </a:r>
          </a:p>
        </p:txBody>
      </p:sp>
      <p:sp>
        <p:nvSpPr>
          <p:cNvPr id="1048830" name="Rounded Rectangle 21"/>
          <p:cNvSpPr/>
          <p:nvPr/>
        </p:nvSpPr>
        <p:spPr>
          <a:xfrm>
            <a:off x="6100168" y="3338615"/>
            <a:ext cx="2103120" cy="10515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400">
                <a:solidFill>
                  <a:srgbClr val="232323"/>
                </a:solidFill>
                <a:latin typeface="Aptos"/>
              </a:defRPr>
            </a:pPr>
            <a:r>
              <a:t>Meningioma</a:t>
            </a:r>
            <a:br/>
            <a:r>
              <a:t>1,645 images</a:t>
            </a:r>
          </a:p>
        </p:txBody>
      </p:sp>
      <p:sp>
        <p:nvSpPr>
          <p:cNvPr id="1048831" name="Rounded Rectangle 22"/>
          <p:cNvSpPr/>
          <p:nvPr/>
        </p:nvSpPr>
        <p:spPr>
          <a:xfrm>
            <a:off x="8543676" y="3338615"/>
            <a:ext cx="2103120" cy="1051560"/>
          </a:xfrm>
          <a:prstGeom prst="roundRect"/>
          <a:solidFill>
            <a:srgbClr val="FFFFFF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400">
                <a:solidFill>
                  <a:srgbClr val="232323"/>
                </a:solidFill>
                <a:latin typeface="Aptos"/>
              </a:defRPr>
            </a:pPr>
            <a:r>
              <a:t>Glioma</a:t>
            </a:r>
            <a:br/>
            <a:r>
              <a:t>1,621 images</a:t>
            </a:r>
          </a:p>
        </p:txBody>
      </p:sp>
      <p:sp>
        <p:nvSpPr>
          <p:cNvPr id="1048832" name="Rounded Rectangle 23"/>
          <p:cNvSpPr/>
          <p:nvPr/>
        </p:nvSpPr>
        <p:spPr>
          <a:xfrm>
            <a:off x="6516087" y="4647598"/>
            <a:ext cx="3840480" cy="685800"/>
          </a:xfrm>
          <a:prstGeom prst="roundRect"/>
          <a:solidFill>
            <a:srgbClr val="FFF5F2"/>
          </a:solidFill>
          <a:ln w="12700">
            <a:solidFill>
              <a:srgbClr val="EF7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73152" lIns="109728" rIns="109728" rtlCol="0" tIns="73152" wrap="square"/>
          <a:p>
            <a:pPr algn="ctr">
              <a:defRPr b="1" sz="1400">
                <a:solidFill>
                  <a:srgbClr val="232323"/>
                </a:solidFill>
                <a:latin typeface="Aptos"/>
              </a:defRPr>
            </a:pPr>
            <a:r>
              <a:rPr dirty="0"/>
              <a:t>Grad-CAM → visual explanation of predicted class</a:t>
            </a:r>
          </a:p>
        </p:txBody>
      </p:sp>
      <p:sp>
        <p:nvSpPr>
          <p:cNvPr id="1048833" name="TextBox 35"/>
          <p:cNvSpPr txBox="1"/>
          <p:nvPr/>
        </p:nvSpPr>
        <p:spPr>
          <a:xfrm>
            <a:off x="8714630" y="23192"/>
            <a:ext cx="3297262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8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39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40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15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41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8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42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43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844" name="TextBox 16"/>
          <p:cNvSpPr txBox="1"/>
          <p:nvPr/>
        </p:nvSpPr>
        <p:spPr>
          <a:xfrm flipH="1">
            <a:off x="183367" y="1458714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key Results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&amp; Limitations | Relevance to my research |</a:t>
            </a:r>
          </a:p>
        </p:txBody>
      </p:sp>
      <p:sp>
        <p:nvSpPr>
          <p:cNvPr id="1048845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03 – </a:t>
            </a:r>
            <a:r>
              <a:rPr dirty="0" sz="1400" lang="en-IN"/>
              <a:t>An Interpretable CNN Framework for Multi-Class Brain </a:t>
            </a:r>
            <a:r>
              <a:rPr dirty="0" sz="1400" lang="en-IN" err="1"/>
              <a:t>Tumor</a:t>
            </a:r>
            <a:r>
              <a:rPr dirty="0" sz="1400" lang="en-IN"/>
              <a:t> Classification with Visual Explanation in MRI Scans</a:t>
            </a:r>
            <a:br>
              <a:rPr dirty="0" sz="1400" lang="en-IN"/>
            </a:br>
            <a:r>
              <a:rPr dirty="0" sz="1400" lang="en-IN"/>
              <a:t>               </a:t>
            </a:r>
            <a:r>
              <a:rPr dirty="0" sz="1400" lang="en-IN" err="1"/>
              <a:t>Helala</a:t>
            </a:r>
            <a:r>
              <a:rPr dirty="0" sz="1400" lang="en-IN"/>
              <a:t> AlShehri et al., </a:t>
            </a:r>
            <a:r>
              <a:rPr dirty="0" sz="1400" i="1" lang="en-IN"/>
              <a:t>2026</a:t>
            </a:r>
            <a:r>
              <a:rPr dirty="0" sz="1400" lang="en-IN"/>
              <a:t> Systems and Soft Computing</a:t>
            </a:r>
          </a:p>
        </p:txBody>
      </p:sp>
      <p:sp>
        <p:nvSpPr>
          <p:cNvPr id="1048846" name="TextBox 6"/>
          <p:cNvSpPr txBox="1"/>
          <p:nvPr/>
        </p:nvSpPr>
        <p:spPr>
          <a:xfrm>
            <a:off x="600996" y="1758540"/>
            <a:ext cx="11455074" cy="4616648"/>
          </a:xfrm>
          <a:prstGeom prst="rect"/>
          <a:noFill/>
        </p:spPr>
        <p:txBody>
          <a:bodyPr rtlCol="0" wrap="square">
            <a:spAutoFit/>
          </a:bodyPr>
          <a:p>
            <a:r>
              <a:rPr b="1" dirty="0" sz="1600" lang="en-IN"/>
              <a:t>1</a:t>
            </a:r>
            <a:r>
              <a:rPr b="1" dirty="0" lang="en-IN"/>
              <a:t>.Classification Performance</a:t>
            </a:r>
            <a:endParaRPr dirty="0" lang="en-IN"/>
          </a:p>
          <a:p>
            <a:pPr lvl="0"/>
            <a:r>
              <a:rPr dirty="0" sz="1600" lang="en-IN"/>
              <a:t>The proposed lightweight CNN achieved a classification accuracy of 99.54%. </a:t>
            </a:r>
          </a:p>
          <a:p>
            <a:pPr lvl="0"/>
            <a:r>
              <a:rPr dirty="0" sz="1600" lang="en-IN"/>
              <a:t>The model successfully distinguishes between: </a:t>
            </a:r>
          </a:p>
          <a:p>
            <a:pPr lvl="1"/>
            <a:r>
              <a:rPr dirty="0" sz="1600" lang="en-IN"/>
              <a:t>Normal MRI </a:t>
            </a:r>
          </a:p>
          <a:p>
            <a:pPr lvl="1"/>
            <a:r>
              <a:rPr dirty="0" sz="1600" lang="en-IN"/>
              <a:t>Pituitary </a:t>
            </a:r>
            <a:r>
              <a:rPr dirty="0" sz="1600" lang="en-IN" err="1"/>
              <a:t>tumor</a:t>
            </a:r>
            <a:r>
              <a:rPr dirty="0" sz="1600" lang="en-IN"/>
              <a:t> </a:t>
            </a:r>
          </a:p>
          <a:p>
            <a:pPr lvl="1"/>
            <a:r>
              <a:rPr dirty="0" sz="1600" lang="en-IN"/>
              <a:t>Meningioma </a:t>
            </a:r>
          </a:p>
          <a:p>
            <a:pPr lvl="1"/>
            <a:r>
              <a:rPr dirty="0" sz="1600" lang="en-IN"/>
              <a:t>Glioma </a:t>
            </a:r>
          </a:p>
          <a:p>
            <a:pPr lvl="0"/>
            <a:r>
              <a:rPr dirty="0" sz="1600" lang="en-IN"/>
              <a:t>The results demonstrate that a relatively lightweight CNN can achieve strong performance without relying on highly complex architectures. </a:t>
            </a:r>
          </a:p>
          <a:p>
            <a:r>
              <a:rPr b="1" dirty="0" sz="1600" lang="en-IN"/>
              <a:t>2.</a:t>
            </a:r>
            <a:r>
              <a:rPr b="1" dirty="0" lang="en-IN"/>
              <a:t>Explainability Results</a:t>
            </a:r>
          </a:p>
          <a:p>
            <a:pPr lvl="0"/>
            <a:r>
              <a:rPr dirty="0" sz="1600" lang="en-IN"/>
              <a:t>Grad-CAM successfully identifies important regions of MRI scans associated with the predicted </a:t>
            </a:r>
            <a:r>
              <a:rPr dirty="0" sz="1600" lang="en-IN" err="1"/>
              <a:t>tumor</a:t>
            </a:r>
            <a:r>
              <a:rPr dirty="0" sz="1600" lang="en-IN"/>
              <a:t> class. </a:t>
            </a:r>
          </a:p>
          <a:p>
            <a:pPr lvl="0"/>
            <a:r>
              <a:rPr dirty="0" sz="1600" lang="en-IN"/>
              <a:t>The generated heatmaps provide a visual indication of where the CNN is focusing when making its prediction. </a:t>
            </a:r>
          </a:p>
          <a:p>
            <a:pPr lvl="0"/>
            <a:r>
              <a:rPr dirty="0" sz="1600" lang="en-IN"/>
              <a:t>This improves transparency compared with providing only a </a:t>
            </a:r>
            <a:r>
              <a:rPr dirty="0" sz="1600" lang="en-IN" err="1"/>
              <a:t>tumor</a:t>
            </a:r>
            <a:r>
              <a:rPr dirty="0" sz="1600" lang="en-IN"/>
              <a:t> label or probability. </a:t>
            </a:r>
          </a:p>
          <a:p>
            <a:r>
              <a:rPr b="1" dirty="0" sz="1600" lang="en-IN"/>
              <a:t>3.</a:t>
            </a:r>
            <a:r>
              <a:rPr b="1" dirty="0" lang="en-IN"/>
              <a:t>Deployment Result</a:t>
            </a:r>
          </a:p>
          <a:p>
            <a:pPr lvl="0"/>
            <a:r>
              <a:rPr dirty="0" sz="1600" lang="en-IN"/>
              <a:t>The trained model was integrated into a user-friendly desktop application. </a:t>
            </a:r>
          </a:p>
          <a:p>
            <a:pPr lvl="0"/>
            <a:r>
              <a:rPr dirty="0" sz="1600" lang="en-IN"/>
              <a:t>The application supports real-time diagnostic assistance. </a:t>
            </a:r>
          </a:p>
          <a:p>
            <a:pPr lvl="0"/>
            <a:r>
              <a:rPr dirty="0" sz="1600" lang="en-IN"/>
              <a:t>This demonstrates the potential for deploying the model in practical environments with limited computational resources.</a:t>
            </a:r>
          </a:p>
          <a:p>
            <a:endParaRPr dirty="0" lang="en-IN"/>
          </a:p>
        </p:txBody>
      </p:sp>
      <p:sp>
        <p:nvSpPr>
          <p:cNvPr id="1048847" name="TextBox 8"/>
          <p:cNvSpPr txBox="1"/>
          <p:nvPr/>
        </p:nvSpPr>
        <p:spPr>
          <a:xfrm>
            <a:off x="8690776" y="23192"/>
            <a:ext cx="3321116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2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53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54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16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55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69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56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7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858" name="TextBox 16"/>
          <p:cNvSpPr txBox="1"/>
          <p:nvPr/>
        </p:nvSpPr>
        <p:spPr>
          <a:xfrm flipH="1">
            <a:off x="271858" y="1411826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Strengths &amp; Limitations | </a:t>
            </a:r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my research |</a:t>
            </a:r>
          </a:p>
        </p:txBody>
      </p:sp>
      <p:sp>
        <p:nvSpPr>
          <p:cNvPr id="1048859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03 – </a:t>
            </a:r>
            <a:r>
              <a:rPr dirty="0" sz="1400" lang="en-IN"/>
              <a:t>An Interpretable CNN Framework for Multi-Class Brain </a:t>
            </a:r>
            <a:r>
              <a:rPr dirty="0" sz="1400" lang="en-IN" err="1"/>
              <a:t>Tumor</a:t>
            </a:r>
            <a:r>
              <a:rPr dirty="0" sz="1400" lang="en-IN"/>
              <a:t> Classification with Visual Explanation in MRI Scans</a:t>
            </a:r>
            <a:br>
              <a:rPr dirty="0" sz="1400" lang="en-IN"/>
            </a:br>
            <a:r>
              <a:rPr dirty="0" sz="1400" lang="en-IN"/>
              <a:t>                </a:t>
            </a:r>
            <a:r>
              <a:rPr dirty="0" sz="1400" lang="en-IN" err="1"/>
              <a:t>Helala</a:t>
            </a:r>
            <a:r>
              <a:rPr dirty="0" sz="1400" lang="en-IN"/>
              <a:t> AlShehri et al., </a:t>
            </a:r>
            <a:r>
              <a:rPr dirty="0" sz="1400" i="1" lang="en-IN"/>
              <a:t>2026</a:t>
            </a:r>
            <a:r>
              <a:rPr dirty="0" sz="1400" lang="en-IN"/>
              <a:t> Systems and Soft Computing</a:t>
            </a:r>
          </a:p>
        </p:txBody>
      </p:sp>
      <p:sp>
        <p:nvSpPr>
          <p:cNvPr id="1048860" name="Rounded Rectangle 6"/>
          <p:cNvSpPr/>
          <p:nvPr/>
        </p:nvSpPr>
        <p:spPr>
          <a:xfrm>
            <a:off x="26416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High accuracy:</a:t>
            </a:r>
            <a:r>
              <a:rPr dirty="0" sz="1600" lang="en-IN">
                <a:solidFill>
                  <a:schemeClr val="tx1"/>
                </a:solidFill>
              </a:rPr>
              <a:t> achieves </a:t>
            </a:r>
            <a:r>
              <a:rPr b="1" dirty="0" sz="1600" lang="en-IN">
                <a:solidFill>
                  <a:schemeClr val="tx1"/>
                </a:solidFill>
              </a:rPr>
              <a:t>99.54%</a:t>
            </a:r>
            <a:r>
              <a:rPr dirty="0" sz="1600" lang="en-IN">
                <a:solidFill>
                  <a:schemeClr val="tx1"/>
                </a:solidFill>
              </a:rPr>
              <a:t> classification accuracy.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Lightweight architecture:</a:t>
            </a:r>
            <a:r>
              <a:rPr dirty="0" sz="1600" lang="en-IN">
                <a:solidFill>
                  <a:schemeClr val="tx1"/>
                </a:solidFill>
              </a:rPr>
              <a:t> designed to reduce computational requirements.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Multi-class classification:</a:t>
            </a:r>
            <a:r>
              <a:rPr dirty="0" sz="1600" lang="en-IN">
                <a:solidFill>
                  <a:schemeClr val="tx1"/>
                </a:solidFill>
              </a:rPr>
              <a:t> identifies three </a:t>
            </a:r>
            <a:r>
              <a:rPr dirty="0" sz="1600" lang="en-IN" err="1">
                <a:solidFill>
                  <a:schemeClr val="tx1"/>
                </a:solidFill>
              </a:rPr>
              <a:t>tumor</a:t>
            </a:r>
            <a:r>
              <a:rPr dirty="0" sz="1600" lang="en-IN">
                <a:solidFill>
                  <a:schemeClr val="tx1"/>
                </a:solidFill>
              </a:rPr>
              <a:t> types along with normal MRI scans.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Explainable AI:</a:t>
            </a:r>
            <a:r>
              <a:rPr dirty="0" sz="1600" lang="en-IN">
                <a:solidFill>
                  <a:schemeClr val="tx1"/>
                </a:solidFill>
              </a:rPr>
              <a:t> Grad-CAM provides visual explanations for predictions.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Practical deployment:</a:t>
            </a:r>
            <a:r>
              <a:rPr dirty="0" sz="1600" lang="en-IN">
                <a:solidFill>
                  <a:schemeClr val="tx1"/>
                </a:solidFill>
              </a:rPr>
              <a:t> implemented as a user-friendly desktop application.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b="1" dirty="0" sz="1600" lang="en-IN">
                <a:solidFill>
                  <a:schemeClr val="tx1"/>
                </a:solidFill>
              </a:rPr>
              <a:t>Real-time support:</a:t>
            </a:r>
            <a:r>
              <a:rPr dirty="0" sz="1600" lang="en-IN">
                <a:solidFill>
                  <a:schemeClr val="tx1"/>
                </a:solidFill>
              </a:rPr>
              <a:t> suitable for fast prediction and decision-support scenarios. </a:t>
            </a:r>
          </a:p>
        </p:txBody>
      </p:sp>
      <p:sp>
        <p:nvSpPr>
          <p:cNvPr id="1048861" name="Rounded Rectangle 17"/>
          <p:cNvSpPr/>
          <p:nvPr/>
        </p:nvSpPr>
        <p:spPr>
          <a:xfrm>
            <a:off x="6146800" y="2194560"/>
            <a:ext cx="5699760" cy="3749040"/>
          </a:xfrm>
          <a:prstGeom prst="roundRect">
            <a:avLst>
              <a:gd name="adj" fmla="val 365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study relies on </a:t>
            </a:r>
            <a:r>
              <a:rPr b="1" dirty="0" sz="1600" lang="en-IN">
                <a:solidFill>
                  <a:schemeClr val="tx1"/>
                </a:solidFill>
              </a:rPr>
              <a:t>one publicly available dataset</a:t>
            </a:r>
            <a:r>
              <a:rPr dirty="0" sz="1600" lang="en-IN">
                <a:solidFill>
                  <a:schemeClr val="tx1"/>
                </a:solidFill>
              </a:rPr>
              <a:t>, which may not represent the full diversity of real-world clinical MRI data.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dataset lacks detailed </a:t>
            </a:r>
            <a:r>
              <a:rPr b="1" dirty="0" sz="1600" lang="en-IN">
                <a:solidFill>
                  <a:schemeClr val="tx1"/>
                </a:solidFill>
              </a:rPr>
              <a:t>patient-level information and imaging acquisition metadata</a:t>
            </a:r>
            <a:r>
              <a:rPr dirty="0" sz="1600" lang="en-IN">
                <a:solidFill>
                  <a:schemeClr val="tx1"/>
                </a:solidFill>
              </a:rPr>
              <a:t>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MRI scans from different hospitals, scanners and acquisition protocols can have significant variations.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The model therefore requires </a:t>
            </a:r>
            <a:r>
              <a:rPr b="1" dirty="0" sz="1600" lang="en-IN">
                <a:solidFill>
                  <a:schemeClr val="tx1"/>
                </a:solidFill>
              </a:rPr>
              <a:t>external and </a:t>
            </a:r>
            <a:r>
              <a:rPr b="1" dirty="0" sz="1600" lang="en-IN" err="1">
                <a:solidFill>
                  <a:schemeClr val="tx1"/>
                </a:solidFill>
              </a:rPr>
              <a:t>multicenter</a:t>
            </a:r>
            <a:r>
              <a:rPr b="1" dirty="0" sz="1600" lang="en-IN">
                <a:solidFill>
                  <a:schemeClr val="tx1"/>
                </a:solidFill>
              </a:rPr>
              <a:t> validation</a:t>
            </a:r>
            <a:r>
              <a:rPr dirty="0" sz="1600" lang="en-IN">
                <a:solidFill>
                  <a:schemeClr val="tx1"/>
                </a:solidFill>
              </a:rPr>
              <a:t> before clinical deployment. </a:t>
            </a:r>
          </a:p>
          <a:p>
            <a:pPr indent="-285750" lvl="0" marL="285750">
              <a:buFont typeface="Arial" panose="020B0604020202020204" pitchFamily="34" charset="0"/>
              <a:buChar char="•"/>
            </a:pPr>
            <a:r>
              <a:rPr dirty="0" sz="1600" lang="en-IN">
                <a:solidFill>
                  <a:schemeClr val="tx1"/>
                </a:solidFill>
              </a:rPr>
              <a:t>Grad-CAM provides a useful visual explanation but remains a </a:t>
            </a:r>
            <a:r>
              <a:rPr b="1" dirty="0" sz="1600" lang="en-IN">
                <a:solidFill>
                  <a:schemeClr val="tx1"/>
                </a:solidFill>
              </a:rPr>
              <a:t>post-hoc explanation method</a:t>
            </a:r>
            <a:r>
              <a:rPr dirty="0" sz="1600" lang="en-IN">
                <a:solidFill>
                  <a:schemeClr val="tx1"/>
                </a:solidFill>
              </a:rPr>
              <a:t>, rather than a complete representation of the model's reasoning. </a:t>
            </a:r>
          </a:p>
        </p:txBody>
      </p:sp>
      <p:sp>
        <p:nvSpPr>
          <p:cNvPr id="1048862" name="Rectangle 7"/>
          <p:cNvSpPr/>
          <p:nvPr/>
        </p:nvSpPr>
        <p:spPr>
          <a:xfrm>
            <a:off x="6259202" y="2148841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63" name="Rectangle 18"/>
          <p:cNvSpPr/>
          <p:nvPr/>
        </p:nvSpPr>
        <p:spPr>
          <a:xfrm>
            <a:off x="393386" y="2148841"/>
            <a:ext cx="5441307" cy="45719"/>
          </a:xfrm>
          <a:prstGeom prst="rect"/>
          <a:solidFill>
            <a:srgbClr val="EC7E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64" name="TextBox 8"/>
          <p:cNvSpPr txBox="1"/>
          <p:nvPr/>
        </p:nvSpPr>
        <p:spPr>
          <a:xfrm>
            <a:off x="393386" y="1799012"/>
            <a:ext cx="1075872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Strengths</a:t>
            </a:r>
          </a:p>
        </p:txBody>
      </p:sp>
      <p:sp>
        <p:nvSpPr>
          <p:cNvPr id="1048865" name="TextBox 19"/>
          <p:cNvSpPr txBox="1"/>
          <p:nvPr/>
        </p:nvSpPr>
        <p:spPr>
          <a:xfrm>
            <a:off x="6259202" y="1779509"/>
            <a:ext cx="1249060" cy="369332"/>
          </a:xfrm>
          <a:prstGeom prst="rect"/>
          <a:noFill/>
        </p:spPr>
        <p:txBody>
          <a:bodyPr rtlCol="0" wrap="none">
            <a:spAutoFit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1048866" name="TextBox 11"/>
          <p:cNvSpPr txBox="1"/>
          <p:nvPr/>
        </p:nvSpPr>
        <p:spPr>
          <a:xfrm>
            <a:off x="8706678" y="23192"/>
            <a:ext cx="3305214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0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1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72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7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17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74" name="TextBox 14"/>
          <p:cNvSpPr txBox="1"/>
          <p:nvPr/>
        </p:nvSpPr>
        <p:spPr>
          <a:xfrm flipH="1">
            <a:off x="135928" y="877163"/>
            <a:ext cx="2063808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2097170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75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6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877" name="TextBox 16"/>
          <p:cNvSpPr txBox="1"/>
          <p:nvPr/>
        </p:nvSpPr>
        <p:spPr>
          <a:xfrm flipH="1">
            <a:off x="183367" y="1507205"/>
            <a:ext cx="11920141" cy="307777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1400" lang="en-IN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 Proposed Method | Data &amp; Setup | key Results | Strengths &amp; Limitations </a:t>
            </a:r>
            <a:r>
              <a:rPr dirty="0" sz="1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| Relevance to my research |</a:t>
            </a:r>
          </a:p>
        </p:txBody>
      </p:sp>
      <p:sp>
        <p:nvSpPr>
          <p:cNvPr id="1048878" name="Rectangle 5"/>
          <p:cNvSpPr/>
          <p:nvPr/>
        </p:nvSpPr>
        <p:spPr>
          <a:xfrm>
            <a:off x="2082799" y="862390"/>
            <a:ext cx="10020709" cy="523220"/>
          </a:xfrm>
          <a:prstGeom prst="rect"/>
        </p:spPr>
        <p:txBody>
          <a:bodyPr wrap="square">
            <a:spAutoFit/>
          </a:bodyPr>
          <a:p>
            <a:r>
              <a:rPr b="1" dirty="0" sz="1400" lang="en-US"/>
              <a:t>Ref 03 – </a:t>
            </a:r>
            <a:r>
              <a:rPr dirty="0" sz="1400" lang="en-IN"/>
              <a:t>An Interpretable CNN Framework for Multi-Class Brain </a:t>
            </a:r>
            <a:r>
              <a:rPr dirty="0" sz="1400" lang="en-IN" err="1"/>
              <a:t>Tumor</a:t>
            </a:r>
            <a:r>
              <a:rPr dirty="0" sz="1400" lang="en-IN"/>
              <a:t> Classification with Visual Explanation in MRI Scans</a:t>
            </a:r>
            <a:br>
              <a:rPr dirty="0" sz="1400" lang="en-IN"/>
            </a:br>
            <a:r>
              <a:rPr dirty="0" sz="1400" lang="en-IN"/>
              <a:t>                </a:t>
            </a:r>
            <a:r>
              <a:rPr dirty="0" sz="1400" lang="en-IN" err="1"/>
              <a:t>Helala</a:t>
            </a:r>
            <a:r>
              <a:rPr dirty="0" sz="1400" lang="en-IN"/>
              <a:t> AlShehri et al., </a:t>
            </a:r>
            <a:r>
              <a:rPr dirty="0" sz="1400" i="1" lang="en-IN"/>
              <a:t>2026</a:t>
            </a:r>
            <a:r>
              <a:rPr dirty="0" sz="1400" lang="en-IN"/>
              <a:t> Systems and Soft Computing</a:t>
            </a:r>
          </a:p>
        </p:txBody>
      </p:sp>
      <p:sp>
        <p:nvSpPr>
          <p:cNvPr id="1048879" name="TextBox 7"/>
          <p:cNvSpPr txBox="1"/>
          <p:nvPr/>
        </p:nvSpPr>
        <p:spPr>
          <a:xfrm>
            <a:off x="522983" y="2107460"/>
            <a:ext cx="6952575" cy="2862322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lang="en-IN"/>
              <a:t>How this paper supports our project</a:t>
            </a:r>
          </a:p>
          <a:p>
            <a:pPr>
              <a:buNone/>
            </a:pPr>
            <a:endParaRPr b="1" dirty="0" lang="en-IN"/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Directly supports our use of CNNs for medical image disease detection.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Provides a practical approach for MRI-based brain </a:t>
            </a:r>
            <a:r>
              <a:rPr dirty="0" sz="1600" lang="en-IN" err="1"/>
              <a:t>tumor</a:t>
            </a:r>
            <a:r>
              <a:rPr dirty="0" sz="1600" lang="en-IN"/>
              <a:t> classification.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Strongly supports our use of Grad-CAM for Explainable AI.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Demonstrates how heatmaps can help users understand which regions influenced an AI prediction.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lightweight architecture provides useful guidance for building a system that can operate with reasonable computational requirements. </a:t>
            </a:r>
          </a:p>
          <a:p>
            <a:pPr indent="-342900" lvl="0" marL="342900">
              <a:buFont typeface="Arial" panose="020B0604020202020204" pitchFamily="34" charset="0"/>
              <a:buChar char="•"/>
            </a:pPr>
            <a:r>
              <a:rPr dirty="0" sz="1600" lang="en-IN"/>
              <a:t>The desktop application demonstrates the feasibility of converting a trained medical AI model into a usable clinical decision-support interface.</a:t>
            </a:r>
          </a:p>
        </p:txBody>
      </p:sp>
      <p:sp>
        <p:nvSpPr>
          <p:cNvPr id="1048880" name="TextBox 9"/>
          <p:cNvSpPr txBox="1"/>
          <p:nvPr/>
        </p:nvSpPr>
        <p:spPr>
          <a:xfrm>
            <a:off x="7339054" y="2164606"/>
            <a:ext cx="4450742" cy="3354765"/>
          </a:xfrm>
          <a:prstGeom prst="rect"/>
          <a:noFill/>
        </p:spPr>
        <p:txBody>
          <a:bodyPr wrap="square">
            <a:spAutoFit/>
          </a:bodyPr>
          <a:p>
            <a:r>
              <a:rPr b="1" dirty="0" lang="en-IN"/>
              <a:t>          </a:t>
            </a:r>
            <a:r>
              <a:rPr dirty="0" lang="en-IN"/>
              <a:t>              </a:t>
            </a:r>
            <a:r>
              <a:rPr dirty="0" lang="en-IN" u="sng"/>
              <a:t>Concept</a:t>
            </a:r>
          </a:p>
          <a:p>
            <a:endParaRPr dirty="0" lang="en-IN" u="sng"/>
          </a:p>
          <a:p>
            <a:r>
              <a:rPr dirty="0" sz="1600" lang="en-IN"/>
              <a:t>                    X-ray + CT + MRI</a:t>
            </a:r>
            <a:br>
              <a:rPr dirty="0" sz="1600" lang="en-IN"/>
            </a:br>
            <a:r>
              <a:rPr dirty="0" sz="1600" lang="en-IN"/>
              <a:t>                                  ↓</a:t>
            </a:r>
            <a:br>
              <a:rPr dirty="0" sz="1600" lang="en-IN"/>
            </a:br>
            <a:r>
              <a:rPr dirty="0" sz="1600" lang="en-IN"/>
              <a:t>            Automatic Modality Identification</a:t>
            </a:r>
            <a:br>
              <a:rPr dirty="0" sz="1600" lang="en-IN"/>
            </a:br>
            <a:r>
              <a:rPr dirty="0" sz="1600" lang="en-IN"/>
              <a:t>                                  ↓</a:t>
            </a:r>
            <a:br>
              <a:rPr dirty="0" sz="1600" lang="en-IN"/>
            </a:br>
            <a:r>
              <a:rPr dirty="0" sz="1600" lang="en-IN"/>
              <a:t>              CNN-based Disease Detection</a:t>
            </a:r>
            <a:br>
              <a:rPr dirty="0" sz="1600" lang="en-IN"/>
            </a:br>
            <a:r>
              <a:rPr dirty="0" sz="1600" lang="en-IN"/>
              <a:t>                                  ↓</a:t>
            </a:r>
            <a:br>
              <a:rPr dirty="0" sz="1600" lang="en-IN"/>
            </a:br>
            <a:r>
              <a:rPr dirty="0" sz="1600" lang="en-IN"/>
              <a:t>                  Grad-CAM Explainability</a:t>
            </a:r>
            <a:br>
              <a:rPr dirty="0" sz="1600" lang="en-IN"/>
            </a:br>
            <a:r>
              <a:rPr dirty="0" sz="1600" lang="en-IN"/>
              <a:t>                                  ↓</a:t>
            </a:r>
            <a:br>
              <a:rPr dirty="0" sz="1600" lang="en-IN"/>
            </a:br>
            <a:r>
              <a:rPr dirty="0" sz="1600" lang="en-IN"/>
              <a:t>        RAG-based Medical Literature Retrieval</a:t>
            </a:r>
            <a:br>
              <a:rPr dirty="0" sz="1600" lang="en-IN"/>
            </a:br>
            <a:r>
              <a:rPr dirty="0" sz="1600" lang="en-IN"/>
              <a:t>                                  ↓</a:t>
            </a:r>
          </a:p>
          <a:p>
            <a:r>
              <a:rPr dirty="0" sz="1600" lang="en-IN"/>
              <a:t>LLM-based Evidence-Supported Clinical summary</a:t>
            </a:r>
          </a:p>
        </p:txBody>
      </p:sp>
      <p:sp>
        <p:nvSpPr>
          <p:cNvPr id="1048881" name="TextBox 17"/>
          <p:cNvSpPr txBox="1"/>
          <p:nvPr/>
        </p:nvSpPr>
        <p:spPr>
          <a:xfrm>
            <a:off x="8714630" y="23192"/>
            <a:ext cx="3297262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86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87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88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18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889" name="TextBox 14"/>
          <p:cNvSpPr txBox="1"/>
          <p:nvPr/>
        </p:nvSpPr>
        <p:spPr>
          <a:xfrm flipH="1">
            <a:off x="135927" y="877163"/>
            <a:ext cx="7167697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Summary</a:t>
            </a:r>
          </a:p>
        </p:txBody>
      </p:sp>
      <p:pic>
        <p:nvPicPr>
          <p:cNvPr id="2097171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890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91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graphicFrame>
        <p:nvGraphicFramePr>
          <p:cNvPr id="4194304" name="Table 6"/>
          <p:cNvGraphicFramePr>
            <a:graphicFrameLocks noGrp="1"/>
          </p:cNvGraphicFramePr>
          <p:nvPr/>
        </p:nvGraphicFramePr>
        <p:xfrm>
          <a:off x="214685" y="1277274"/>
          <a:ext cx="11561195" cy="521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4662"/>
                <a:gridCol w="1732950"/>
                <a:gridCol w="3229105"/>
                <a:gridCol w="2312239"/>
                <a:gridCol w="2312239"/>
              </a:tblGrid>
              <a:tr h="342806"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Idea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028418">
                <a:tc>
                  <a:txBody>
                    <a:bodyPr/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n-IN"/>
                        <a:t>Liu et al.</a:t>
                      </a:r>
                    </a:p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n-IN"/>
                        <a:t>Med-MLLM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dirty="0" sz="16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IN"/>
                        <a:t>Multimodal image + text medical representation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Handles X-ray/CT + clinical text; diagnosis/reporting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Adds explicit Grad-CAM, RAG evidence and multi-disease scope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028418">
                <a:tc>
                  <a:txBody>
                    <a:bodyPr/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s-ES"/>
                        <a:t>Vinay et al.</a:t>
                      </a:r>
                    </a:p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s-ES" err="1"/>
                        <a:t>Explainable</a:t>
                      </a:r>
                      <a:r>
                        <a:rPr dirty="0" sz="1600" lang="es-ES"/>
                        <a:t> Multimodal DL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dirty="0" sz="16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MRI + CT fusion with CNN/</a:t>
                      </a:r>
                      <a:r>
                        <a:rPr dirty="0" sz="1600" lang="en-US" err="1"/>
                        <a:t>ViT</a:t>
                      </a:r>
                      <a:r>
                        <a:rPr dirty="0" sz="1600" lang="en-US"/>
                        <a:t> + XAI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IN"/>
                        <a:t>Multimodal fusion; Grad-CAM/SHAP; fast inference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Adds X-ray, literature retrieval and LLM clinical summary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799881">
                <a:tc>
                  <a:txBody>
                    <a:bodyPr/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n-IN"/>
                        <a:t>AlShehri et al.</a:t>
                      </a:r>
                    </a:p>
                    <a:p>
                      <a:pPr>
                        <a:defRPr sz="105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 sz="1600" lang="en-IN"/>
                        <a:t>Interpretable CNN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dirty="0" sz="160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Lightweight CNN + Grad-CAM for brain MRI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High reported accuracy; deployment oriented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l" defTabSz="914400" eaLnBrk="1" fontAlgn="auto" hangingPunct="1" indent="0" latinLnBrk="0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dirty="0" sz="1600" lang="en-US"/>
                        <a:t>Extends beyond brain MRI and adds RAG + LLM</a:t>
                      </a:r>
                    </a:p>
                    <a:p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1685463">
                <a:tc>
                  <a:txBody>
                    <a:bodyPr/>
                    <a:p>
                      <a:r>
                        <a:rPr b="0" dirty="0" sz="1600" lang="en-IN"/>
                        <a:t>Xia et al.</a:t>
                      </a:r>
                      <a:br>
                        <a:rPr b="0" dirty="0" sz="1600" lang="en-IN"/>
                      </a:br>
                      <a:r>
                        <a:rPr b="0" dirty="0" sz="1600" lang="en-IN"/>
                        <a:t>RULE: Reliable Multimodal RAG</a:t>
                      </a:r>
                      <a:endParaRPr b="0" dirty="0" sz="160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 algn="ctr"/>
                      <a:r>
                        <a:rPr dirty="0"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dirty="0" lang="en-IN"/>
                        <a:t>Multimodal RAG for medical vision-language models</a:t>
                      </a:r>
                      <a:endParaRPr dirty="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dirty="0" sz="1600" lang="en-IN"/>
                        <a:t>Improves factuality by retrieving relevant external medical knowledge; addresses irrelevant retrieval and incorrect generation problems</a:t>
                      </a:r>
                      <a:endParaRPr dirty="0" sz="160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r>
                        <a:rPr b="0" dirty="0" sz="1600" lang="en-IN"/>
                        <a:t>Adds CNN-based disease detection, Grad-CAM explanations, multi-modal X-ray/CT/MRI support and LLM clinical summaries</a:t>
                      </a:r>
                      <a:endParaRPr b="0" dirty="0" sz="1600"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48892" name="TextBox 7"/>
          <p:cNvSpPr txBox="1"/>
          <p:nvPr/>
        </p:nvSpPr>
        <p:spPr>
          <a:xfrm>
            <a:off x="8682824" y="23192"/>
            <a:ext cx="3329068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Rectangle 3"/>
          <p:cNvSpPr/>
          <p:nvPr/>
        </p:nvSpPr>
        <p:spPr>
          <a:xfrm>
            <a:off x="-1" y="6980"/>
            <a:ext cx="12192000" cy="837398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IN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97" name="Rectangle 4"/>
          <p:cNvSpPr/>
          <p:nvPr/>
        </p:nvSpPr>
        <p:spPr>
          <a:xfrm>
            <a:off x="0" y="6451517"/>
            <a:ext cx="12192000" cy="393289"/>
          </a:xfrm>
          <a:prstGeom prst="rect"/>
          <a:solidFill>
            <a:srgbClr val="E77E69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IN"/>
          </a:p>
        </p:txBody>
      </p:sp>
      <p:sp>
        <p:nvSpPr>
          <p:cNvPr id="1048898" name="Date Placeholder 10"/>
          <p:cNvSpPr>
            <a:spLocks noGrp="1"/>
          </p:cNvSpPr>
          <p:nvPr>
            <p:ph type="dt" sz="half" idx="10"/>
          </p:nvPr>
        </p:nvSpPr>
        <p:spPr>
          <a:xfrm>
            <a:off x="0" y="6460922"/>
            <a:ext cx="997974" cy="365125"/>
          </a:xfrm>
        </p:spPr>
        <p:txBody>
          <a:bodyPr/>
          <a:p>
            <a:fld id="{C72AAC90-D07C-417D-96C6-81B39DB87062}" type="datetime1">
              <a:rPr lang="en-IN" smtClean="0">
                <a:solidFill>
                  <a:schemeClr val="tx1"/>
                </a:solidFill>
              </a:rPr>
              <a:t>9/22/2026</a:t>
            </a:fld>
            <a:endParaRPr dirty="0" lang="en-IN">
              <a:solidFill>
                <a:schemeClr val="tx1"/>
              </a:solidFill>
            </a:endParaRPr>
          </a:p>
        </p:txBody>
      </p:sp>
      <p:sp>
        <p:nvSpPr>
          <p:cNvPr id="1048899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11227443" y="6478792"/>
            <a:ext cx="876067" cy="379208"/>
          </a:xfrm>
        </p:spPr>
        <p:txBody>
          <a:bodyPr/>
          <a:p>
            <a:fld id="{0F06A4E2-163B-4ABA-8562-AD05AC3F17C5}" type="slidenum">
              <a:rPr sz="1800" lang="en-IN" smtClean="0">
                <a:solidFill>
                  <a:schemeClr val="tx1"/>
                </a:solidFill>
              </a:rPr>
              <a:t>19</a:t>
            </a:fld>
            <a:endParaRPr dirty="0" sz="1800" lang="en-IN">
              <a:solidFill>
                <a:schemeClr val="tx1"/>
              </a:solidFill>
            </a:endParaRPr>
          </a:p>
        </p:txBody>
      </p:sp>
      <p:sp>
        <p:nvSpPr>
          <p:cNvPr id="1048900" name="TextBox 14"/>
          <p:cNvSpPr txBox="1"/>
          <p:nvPr/>
        </p:nvSpPr>
        <p:spPr>
          <a:xfrm flipH="1">
            <a:off x="135927" y="877163"/>
            <a:ext cx="7167697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0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Review – 1 </a:t>
            </a:r>
          </a:p>
        </p:txBody>
      </p:sp>
      <p:pic>
        <p:nvPicPr>
          <p:cNvPr id="2097172" name="Picture 2"/>
          <p:cNvPicPr>
            <a:picLocks noChangeAspect="1"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04186" y="92353"/>
            <a:ext cx="993618" cy="693462"/>
          </a:xfrm>
          <a:prstGeom prst="rect"/>
        </p:spPr>
      </p:pic>
      <p:sp>
        <p:nvSpPr>
          <p:cNvPr id="1048901" name="TextBox 13"/>
          <p:cNvSpPr txBox="1"/>
          <p:nvPr/>
        </p:nvSpPr>
        <p:spPr>
          <a:xfrm>
            <a:off x="1531467" y="82617"/>
            <a:ext cx="7424010" cy="646331"/>
          </a:xfrm>
          <a:prstGeom prst="rect"/>
          <a:noFill/>
        </p:spPr>
        <p:txBody>
          <a:bodyPr rtlCol="0" wrap="square">
            <a:sp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AI-Based Multi-Modal Medical Image Analysis and Explainable Disease Diagnosis Using CNN, RAG, and Large Language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0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3999271" y="6460922"/>
            <a:ext cx="4114800" cy="365125"/>
          </a:xfrm>
        </p:spPr>
        <p:txBody>
          <a:bodyPr/>
          <a:p>
            <a:r>
              <a:rPr dirty="0" lang="en-IN">
                <a:solidFill>
                  <a:schemeClr val="tx1"/>
                </a:solidFill>
              </a:rPr>
              <a:t>Dept. CSM @ VVIT</a:t>
            </a:r>
          </a:p>
        </p:txBody>
      </p:sp>
      <p:sp>
        <p:nvSpPr>
          <p:cNvPr id="1048903" name="TextBox 5"/>
          <p:cNvSpPr txBox="1"/>
          <p:nvPr/>
        </p:nvSpPr>
        <p:spPr>
          <a:xfrm>
            <a:off x="4641448" y="3010622"/>
            <a:ext cx="2236510" cy="646331"/>
          </a:xfrm>
          <a:prstGeom prst="rect"/>
          <a:noFill/>
        </p:spPr>
        <p:txBody>
          <a:bodyPr rtlCol="0" wrap="none">
            <a:spAutoFit/>
          </a:bodyPr>
          <a:p>
            <a:r>
              <a:rPr dirty="0" sz="3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048904" name="TextBox 7"/>
          <p:cNvSpPr txBox="1"/>
          <p:nvPr/>
        </p:nvSpPr>
        <p:spPr>
          <a:xfrm>
            <a:off x="8706678" y="23192"/>
            <a:ext cx="3305214" cy="830997"/>
          </a:xfrm>
          <a:prstGeom prst="rect"/>
          <a:noFill/>
        </p:spPr>
        <p:txBody>
          <a:bodyPr wrap="square">
            <a:spAutoFit/>
          </a:bodyPr>
          <a:p>
            <a:pPr>
              <a:defRPr b="0" sz="950">
                <a:solidFill>
                  <a:srgbClr val="232323"/>
                </a:solidFill>
                <a:latin typeface="Aptos"/>
              </a:defRPr>
            </a:pPr>
            <a:r>
              <a:rPr dirty="0" sz="1200" lang="en-IN"/>
              <a:t>Guide: Dr. Shaik Khader </a:t>
            </a:r>
            <a:r>
              <a:rPr dirty="0" sz="1200" lang="en-IN" err="1"/>
              <a:t>Zelani</a:t>
            </a:r>
            <a:br>
              <a:rPr dirty="0" sz="1200" lang="en-IN"/>
            </a:br>
            <a:r>
              <a:rPr dirty="0" sz="1200" lang="en-IN"/>
              <a:t>Batch ID: AIML – B11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#1.23BQ1A6181       </a:t>
            </a:r>
            <a:r>
              <a:rPr dirty="0" sz="1200" lang="en-IN" err="1"/>
              <a:t>Regd</a:t>
            </a:r>
            <a:r>
              <a:rPr dirty="0" sz="1200" lang="en-IN"/>
              <a:t> #2.23BQ1A6185</a:t>
            </a:r>
            <a:br>
              <a:rPr dirty="0" sz="1200" lang="en-IN"/>
            </a:br>
            <a:r>
              <a:rPr dirty="0" sz="1200" lang="en-IN" err="1"/>
              <a:t>Regd</a:t>
            </a:r>
            <a:r>
              <a:rPr dirty="0" sz="1200" lang="en-IN"/>
              <a:t> #3 .24BQ5A6130      </a:t>
            </a:r>
            <a:r>
              <a:rPr dirty="0" sz="1200" lang="en-IN" err="1"/>
              <a:t>Regd</a:t>
            </a:r>
            <a:r>
              <a:rPr dirty="0" sz="1200" lang="en-IN"/>
              <a:t> #4.24BQ5A6127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mualidhar V</dc:creator>
  <cp:lastModifiedBy>Rani Mattupalli</cp:lastModifiedBy>
  <dcterms:created xsi:type="dcterms:W3CDTF">2023-07-18T01:47:32Z</dcterms:created>
  <dcterms:modified xsi:type="dcterms:W3CDTF">2026-09-22T17:45:12Z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fb8882c92288479e8ffba1605442db78_23</vt:lpwstr>
  </property>
</Properties>
</file>